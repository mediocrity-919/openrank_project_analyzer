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3"/>
  </p:sldMasterIdLst>
  <p:notesMasterIdLst>
    <p:notesMasterId r:id="rId29"/>
  </p:notesMasterIdLst>
  <p:sldIdLst>
    <p:sldId id="256" r:id="rId4"/>
    <p:sldId id="284" r:id="rId5"/>
    <p:sldId id="258" r:id="rId6"/>
    <p:sldId id="278" r:id="rId7"/>
    <p:sldId id="260" r:id="rId8"/>
    <p:sldId id="282" r:id="rId9"/>
    <p:sldId id="300" r:id="rId10"/>
    <p:sldId id="287" r:id="rId11"/>
    <p:sldId id="301" r:id="rId12"/>
    <p:sldId id="289" r:id="rId13"/>
    <p:sldId id="298" r:id="rId14"/>
    <p:sldId id="281" r:id="rId15"/>
    <p:sldId id="290" r:id="rId16"/>
    <p:sldId id="291" r:id="rId17"/>
    <p:sldId id="292" r:id="rId18"/>
    <p:sldId id="293" r:id="rId19"/>
    <p:sldId id="302" r:id="rId20"/>
    <p:sldId id="294" r:id="rId21"/>
    <p:sldId id="303" r:id="rId22"/>
    <p:sldId id="295" r:id="rId23"/>
    <p:sldId id="296" r:id="rId24"/>
    <p:sldId id="297" r:id="rId25"/>
    <p:sldId id="288" r:id="rId26"/>
    <p:sldId id="299" r:id="rId27"/>
    <p:sldId id="277" r:id="rId28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96" userDrawn="1">
          <p15:clr>
            <a:srgbClr val="A4A3A4"/>
          </p15:clr>
        </p15:guide>
        <p15:guide id="4" orient="horz" pos="720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 autoAdjust="0"/>
    <p:restoredTop sz="86451" autoAdjust="0"/>
  </p:normalViewPr>
  <p:slideViewPr>
    <p:cSldViewPr snapToGrid="0" showGuides="1">
      <p:cViewPr varScale="1">
        <p:scale>
          <a:sx n="83" d="100"/>
          <a:sy n="83" d="100"/>
        </p:scale>
        <p:origin x="403" y="77"/>
      </p:cViewPr>
      <p:guideLst>
        <p:guide pos="384"/>
        <p:guide pos="7296"/>
        <p:guide orient="horz" pos="720"/>
        <p:guide orient="horz" pos="3936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428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EA393-621B-4B67-8458-05F4B5BFD6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683F9-4EE0-4408-8090-6E84FB92685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descr="c8d56483-4f87-4aee-84a3-56b76e51c5a9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 descr="15f88cb4-af1e-4201-bc02-967dbe7e08cc"/>
            <p:cNvSpPr>
              <a:spLocks noChangeAspect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2"/>
              <a:stretch>
                <a:fillRect t="-16667" b="-1666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 descr="cec5e2b9-9153-41d8-9409-25f27de9dbf9"/>
            <p:cNvSpPr/>
            <p:nvPr/>
          </p:nvSpPr>
          <p:spPr>
            <a:xfrm>
              <a:off x="1104900" y="723900"/>
              <a:ext cx="499110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31d97f43-0eb7-48d1-b67d-b75e42550787"/>
          <p:cNvSpPr>
            <a:spLocks noGrp="1"/>
          </p:cNvSpPr>
          <p:nvPr>
            <p:ph type="ctrTitle" hasCustomPrompt="1"/>
          </p:nvPr>
        </p:nvSpPr>
        <p:spPr>
          <a:xfrm>
            <a:off x="4781550" y="1918953"/>
            <a:ext cx="6737350" cy="146304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3a20c090-741c-4906-aec5-c17530e130fd"/>
          <p:cNvSpPr>
            <a:spLocks noGrp="1"/>
          </p:cNvSpPr>
          <p:nvPr>
            <p:ph type="subTitle" idx="1" hasCustomPrompt="1"/>
          </p:nvPr>
        </p:nvSpPr>
        <p:spPr>
          <a:xfrm>
            <a:off x="4781550" y="3381993"/>
            <a:ext cx="6737350" cy="508703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8" name="Text Placeholder 4294967294" descr="6ed074fc-70f1-4539-a1ee-d53720cbe109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15723d0a-06f7-459a-b73b-2296f5846450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9500ef2-e8cb-47ad-ae9a-f6582945acc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93bff280-a43d-41f5-8303-738dbd884743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866329ba-3537-4cd3-a8d5-86d4ecf8fff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d5b13cab-aad2-447e-9212-4e839b737ae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c57258e3-6d4c-435f-a262-565694d5bb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fc1b427-4b45-4b8e-aede-8f6dd7d60fec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29c40073-0e8b-460f-8f15-b0bd393b1b85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a4aca091-dd3a-4139-834d-43db3707f3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6" name="Footer Placeholder 5" descr="c1401364-ad55-49e5-9b83-6c75fb9eed9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4b354d4f-34d5-45b6-b154-106e528a3f9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8" name="Straight Connector 7" descr="a898284d-c14e-4066-b5d4-5f06f31bff4c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1b706eab-5c7d-4edc-a8b7-d134825e7af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08f5f13d-06e0-4521-9d50-d52f55644fcc"/>
          <p:cNvGrpSpPr/>
          <p:nvPr/>
        </p:nvGrpSpPr>
        <p:grpSpPr>
          <a:xfrm>
            <a:off x="0" y="1955800"/>
            <a:ext cx="12192000" cy="4902200"/>
            <a:chOff x="0" y="1955800"/>
            <a:chExt cx="12192000" cy="4902200"/>
          </a:xfrm>
        </p:grpSpPr>
        <p:sp>
          <p:nvSpPr>
            <p:cNvPr id="8" name="Rectangle 7" descr="cc8430ed-f9fb-4151-a726-aa369f5449d0"/>
            <p:cNvSpPr>
              <a:spLocks noChangeAspect="1"/>
            </p:cNvSpPr>
            <p:nvPr/>
          </p:nvSpPr>
          <p:spPr>
            <a:xfrm>
              <a:off x="0" y="1955800"/>
              <a:ext cx="12192000" cy="4902200"/>
            </a:xfrm>
            <a:prstGeom prst="rect">
              <a:avLst/>
            </a:prstGeom>
            <a:blipFill dpi="0" rotWithShape="1">
              <a:blip r:embed="rId2"/>
              <a:stretch>
                <a:fillRect t="-23318" b="-6321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 descr="9a2772df-f3e0-4331-a837-7000f97f38ca"/>
            <p:cNvSpPr/>
            <p:nvPr/>
          </p:nvSpPr>
          <p:spPr>
            <a:xfrm flipH="1">
              <a:off x="1333500" y="2445911"/>
              <a:ext cx="499110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923944f6-3728-4498-b501-8c55ea91429b"/>
          <p:cNvSpPr>
            <a:spLocks noGrp="1"/>
          </p:cNvSpPr>
          <p:nvPr>
            <p:ph type="title" hasCustomPrompt="1"/>
          </p:nvPr>
        </p:nvSpPr>
        <p:spPr>
          <a:xfrm>
            <a:off x="3371850" y="2802223"/>
            <a:ext cx="5435600" cy="987399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21"/>
            <a:ext cx="5435600" cy="234447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aa327319-06ca-4f95-a720-0bf58a576f9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e6e17fe4-512e-4deb-8326-3920e84e888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adb9df31-4f32-49a9-9026-78c473632cb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49c46fa-a821-477e-9d76-2f926304a18b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df2ec588-1ae9-4726-aa74-d00ab7a9a9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4" name="Footer Placeholder 3" descr="d259bead-e4f8-4382-ad53-4cb06d1824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747f4a68-b2e5-4a93-9337-905055e165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8636c884-da70-434d-9ea8-9608a527c5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3" name="Footer Placeholder 2" descr="66669f85-516b-4e9c-887d-ee091cbb80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88718360-e5b0-4197-a4cd-ce9878e29ed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43b21051-ebce-4dfd-8812-90e9298f099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5" descr="3aca4bd2-ff0e-4d91-943e-75b05c969a92"/>
            <p:cNvSpPr>
              <a:spLocks noChangeAspect="1"/>
            </p:cNvSpPr>
            <p:nvPr/>
          </p:nvSpPr>
          <p:spPr>
            <a:xfrm flipH="1" flipV="1"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2"/>
              <a:stretch>
                <a:fillRect t="-32964" b="-37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 descr="0de4f874-db44-48c4-a205-10e34e6abfd3"/>
            <p:cNvSpPr/>
            <p:nvPr/>
          </p:nvSpPr>
          <p:spPr>
            <a:xfrm>
              <a:off x="5727701" y="5905500"/>
              <a:ext cx="5422899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71701a5b-95a5-4cbe-a9ab-16c76343a67e"/>
          <p:cNvSpPr>
            <a:spLocks noGrp="1"/>
          </p:cNvSpPr>
          <p:nvPr>
            <p:ph type="title" hasCustomPrompt="1"/>
          </p:nvPr>
        </p:nvSpPr>
        <p:spPr>
          <a:xfrm>
            <a:off x="5178287" y="3326130"/>
            <a:ext cx="6340613" cy="2381250"/>
          </a:xfrm>
        </p:spPr>
        <p:txBody>
          <a:bodyPr anchor="ctr">
            <a:normAutofit/>
          </a:bodyPr>
          <a:lstStyle>
            <a:lvl1pPr algn="r"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0ffd2a62-0e71-48f2-bb43-9d1636219b2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7022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f048e163-a0cb-4023-99ed-38caabd6643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454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内容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7" hasCustomPrompt="1"/>
            <p:custDataLst>
              <p:tags r:id="rId3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1524000"/>
            <a:ext cx="5029200" cy="472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和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43688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81280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4328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和文本卡片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2590800"/>
            <a:ext cx="5334000" cy="3657600"/>
          </a:xfrm>
          <a:custGeom>
            <a:avLst/>
            <a:gdLst>
              <a:gd name="connisteX0" fmla="*/ 0 w 5334000"/>
              <a:gd name="connsiteY0" fmla="*/ 203200 h 3657600"/>
              <a:gd name="connisteX1" fmla="*/ 203200 w 5334000"/>
              <a:gd name="connsiteY1" fmla="*/ 0 h 3657600"/>
              <a:gd name="connisteX2" fmla="*/ 5130800 w 5334000"/>
              <a:gd name="connsiteY2" fmla="*/ 0 h 3657600"/>
              <a:gd name="connisteX3" fmla="*/ 5334000 w 5334000"/>
              <a:gd name="connsiteY3" fmla="*/ 203200 h 3657600"/>
              <a:gd name="connisteX4" fmla="*/ 5334000 w 5334000"/>
              <a:gd name="connsiteY4" fmla="*/ 3454400 h 3657600"/>
              <a:gd name="connisteX5" fmla="*/ 5130800 w 5334000"/>
              <a:gd name="connsiteY5" fmla="*/ 3657600 h 3657600"/>
              <a:gd name="connisteX6" fmla="*/ 203200 w 5334000"/>
              <a:gd name="connsiteY6" fmla="*/ 3657600 h 3657600"/>
              <a:gd name="connisteX7" fmla="*/ 0 w 5334000"/>
              <a:gd name="connsiteY7" fmla="*/ 3454400 h 3657600"/>
              <a:gd name="connisteX8" fmla="*/ 0 w 53340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454400"/>
                </a:lnTo>
                <a:cubicBezTo>
                  <a:pt x="5334000" y="3566624"/>
                  <a:pt x="5243024" y="3657600"/>
                  <a:pt x="51308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048000"/>
            <a:ext cx="47244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248400" y="2590800"/>
            <a:ext cx="5334000" cy="3657600"/>
          </a:xfrm>
          <a:custGeom>
            <a:avLst/>
            <a:gdLst>
              <a:gd name="connisteX0" fmla="*/ 0 w 5334000"/>
              <a:gd name="connsiteY0" fmla="*/ 203200 h 3657600"/>
              <a:gd name="connisteX1" fmla="*/ 203200 w 5334000"/>
              <a:gd name="connsiteY1" fmla="*/ 0 h 3657600"/>
              <a:gd name="connisteX2" fmla="*/ 5130800 w 5334000"/>
              <a:gd name="connsiteY2" fmla="*/ 0 h 3657600"/>
              <a:gd name="connisteX3" fmla="*/ 5334000 w 5334000"/>
              <a:gd name="connsiteY3" fmla="*/ 203200 h 3657600"/>
              <a:gd name="connisteX4" fmla="*/ 5334000 w 5334000"/>
              <a:gd name="connsiteY4" fmla="*/ 3454400 h 3657600"/>
              <a:gd name="connisteX5" fmla="*/ 5130800 w 5334000"/>
              <a:gd name="connsiteY5" fmla="*/ 3657600 h 3657600"/>
              <a:gd name="connisteX6" fmla="*/ 203200 w 5334000"/>
              <a:gd name="connsiteY6" fmla="*/ 3657600 h 3657600"/>
              <a:gd name="connisteX7" fmla="*/ 0 w 5334000"/>
              <a:gd name="connsiteY7" fmla="*/ 3454400 h 3657600"/>
              <a:gd name="connisteX8" fmla="*/ 0 w 53340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454400"/>
                </a:lnTo>
                <a:cubicBezTo>
                  <a:pt x="5334000" y="3566624"/>
                  <a:pt x="5243024" y="3657600"/>
                  <a:pt x="51308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53200" y="3048000"/>
            <a:ext cx="47244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宫格文本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22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22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722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7216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5722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7216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9" hasCustomPrompt="1"/>
            <p:custDataLst>
              <p:tags r:id="rId6"/>
            </p:custDataLst>
          </p:nvPr>
        </p:nvSpPr>
        <p:spPr>
          <a:xfrm>
            <a:off x="43180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228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228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400" hasCustomPrompt="1"/>
            <p:custDataLst>
              <p:tags r:id="rId9"/>
            </p:custDataLst>
          </p:nvPr>
        </p:nvSpPr>
        <p:spPr>
          <a:xfrm>
            <a:off x="80264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401" hasCustomPrompt="1"/>
            <p:custDataLst>
              <p:tags r:id="rId12"/>
            </p:custDataLst>
          </p:nvPr>
        </p:nvSpPr>
        <p:spPr>
          <a:xfrm>
            <a:off x="6096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144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144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2" hasCustomPrompt="1"/>
            <p:custDataLst>
              <p:tags r:id="rId15"/>
            </p:custDataLst>
          </p:nvPr>
        </p:nvSpPr>
        <p:spPr>
          <a:xfrm>
            <a:off x="43180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46228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46228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22" name="装饰  1"/>
          <p:cNvSpPr>
            <a:spLocks noGrp="1"/>
          </p:cNvSpPr>
          <p:nvPr>
            <p:ph type="body" idx="16403" hasCustomPrompt="1"/>
            <p:custDataLst>
              <p:tags r:id="rId18"/>
            </p:custDataLst>
          </p:nvPr>
        </p:nvSpPr>
        <p:spPr>
          <a:xfrm>
            <a:off x="80264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83312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20"/>
            </p:custDataLst>
          </p:nvPr>
        </p:nvSpPr>
        <p:spPr>
          <a:xfrm>
            <a:off x="83312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内容下多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92964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2964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92964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37338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5532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3726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多行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6934200" cy="2667000"/>
          </a:xfrm>
          <a:custGeom>
            <a:avLst/>
            <a:gdLst>
              <a:gd name="connisteX0" fmla="*/ 0 w 6934200"/>
              <a:gd name="connsiteY0" fmla="*/ 203200 h 2667000"/>
              <a:gd name="connisteX1" fmla="*/ 203200 w 6934200"/>
              <a:gd name="connsiteY1" fmla="*/ 0 h 2667000"/>
              <a:gd name="connisteX2" fmla="*/ 6731000 w 6934200"/>
              <a:gd name="connsiteY2" fmla="*/ 0 h 2667000"/>
              <a:gd name="connisteX3" fmla="*/ 6934200 w 6934200"/>
              <a:gd name="connsiteY3" fmla="*/ 203200 h 2667000"/>
              <a:gd name="connisteX4" fmla="*/ 6934200 w 6934200"/>
              <a:gd name="connsiteY4" fmla="*/ 2463800 h 2667000"/>
              <a:gd name="connisteX5" fmla="*/ 6731000 w 6934200"/>
              <a:gd name="connsiteY5" fmla="*/ 2667000 h 2667000"/>
              <a:gd name="connisteX6" fmla="*/ 203200 w 6934200"/>
              <a:gd name="connsiteY6" fmla="*/ 2667000 h 2667000"/>
              <a:gd name="connisteX7" fmla="*/ 0 w 6934200"/>
              <a:gd name="connsiteY7" fmla="*/ 2463800 h 2667000"/>
              <a:gd name="connisteX8" fmla="*/ 0 w 6934200"/>
              <a:gd name="connsiteY8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463800"/>
                </a:lnTo>
                <a:cubicBezTo>
                  <a:pt x="6934200" y="2576024"/>
                  <a:pt x="6843224" y="2667000"/>
                  <a:pt x="6731000" y="2667000"/>
                </a:cubicBez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953000" y="9017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953000" y="1460500"/>
            <a:ext cx="6324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3581400"/>
            <a:ext cx="6934200" cy="2667000"/>
          </a:xfrm>
          <a:custGeom>
            <a:avLst/>
            <a:gdLst>
              <a:gd name="connisteX0" fmla="*/ 0 w 6934200"/>
              <a:gd name="connsiteY0" fmla="*/ 203200 h 2667000"/>
              <a:gd name="connisteX1" fmla="*/ 203200 w 6934200"/>
              <a:gd name="connsiteY1" fmla="*/ 0 h 2667000"/>
              <a:gd name="connisteX2" fmla="*/ 6731000 w 6934200"/>
              <a:gd name="connsiteY2" fmla="*/ 0 h 2667000"/>
              <a:gd name="connisteX3" fmla="*/ 6934200 w 6934200"/>
              <a:gd name="connsiteY3" fmla="*/ 203200 h 2667000"/>
              <a:gd name="connisteX4" fmla="*/ 6934200 w 6934200"/>
              <a:gd name="connsiteY4" fmla="*/ 2463800 h 2667000"/>
              <a:gd name="connisteX5" fmla="*/ 6731000 w 6934200"/>
              <a:gd name="connsiteY5" fmla="*/ 2667000 h 2667000"/>
              <a:gd name="connisteX6" fmla="*/ 203200 w 6934200"/>
              <a:gd name="connsiteY6" fmla="*/ 2667000 h 2667000"/>
              <a:gd name="connisteX7" fmla="*/ 0 w 6934200"/>
              <a:gd name="connsiteY7" fmla="*/ 2463800 h 2667000"/>
              <a:gd name="connisteX8" fmla="*/ 0 w 6934200"/>
              <a:gd name="connsiteY8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463800"/>
                </a:lnTo>
                <a:cubicBezTo>
                  <a:pt x="6934200" y="2576024"/>
                  <a:pt x="6843224" y="2667000"/>
                  <a:pt x="6731000" y="2667000"/>
                </a:cubicBez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953000" y="38735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953000" y="4432300"/>
            <a:ext cx="6324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2项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028700" y="19939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895600" y="2019300"/>
            <a:ext cx="8280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28700" y="45085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895600" y="4533900"/>
            <a:ext cx="8280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descr="c8d56483-4f87-4aee-84a3-56b76e51c5a9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 descr="15f88cb4-af1e-4201-bc02-967dbe7e08cc"/>
            <p:cNvSpPr>
              <a:spLocks noChangeAspect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2"/>
              <a:stretch>
                <a:fillRect t="-16667" b="-1666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 descr="cec5e2b9-9153-41d8-9409-25f27de9dbf9"/>
            <p:cNvSpPr/>
            <p:nvPr/>
          </p:nvSpPr>
          <p:spPr>
            <a:xfrm>
              <a:off x="1104900" y="723900"/>
              <a:ext cx="499110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31d97f43-0eb7-48d1-b67d-b75e42550787"/>
          <p:cNvSpPr>
            <a:spLocks noGrp="1"/>
          </p:cNvSpPr>
          <p:nvPr>
            <p:ph type="ctrTitle" hasCustomPrompt="1"/>
          </p:nvPr>
        </p:nvSpPr>
        <p:spPr>
          <a:xfrm>
            <a:off x="4781550" y="1918953"/>
            <a:ext cx="6737350" cy="146304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3a20c090-741c-4906-aec5-c17530e130fd"/>
          <p:cNvSpPr>
            <a:spLocks noGrp="1"/>
          </p:cNvSpPr>
          <p:nvPr>
            <p:ph type="subTitle" idx="1" hasCustomPrompt="1"/>
          </p:nvPr>
        </p:nvSpPr>
        <p:spPr>
          <a:xfrm>
            <a:off x="4781550" y="3381993"/>
            <a:ext cx="6737350" cy="508703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8" name="Text Placeholder 4294967294" descr="6ed074fc-70f1-4539-a1ee-d53720cbe109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15723d0a-06f7-459a-b73b-2296f5846450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9500ef2-e8cb-47ad-ae9a-f6582945acc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93bff280-a43d-41f5-8303-738dbd884743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866329ba-3537-4cd3-a8d5-86d4ecf8fff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d5b13cab-aad2-447e-9212-4e839b737ae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c57258e3-6d4c-435f-a262-565694d5bb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fc1b427-4b45-4b8e-aede-8f6dd7d60fec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29c40073-0e8b-460f-8f15-b0bd393b1b85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a4aca091-dd3a-4139-834d-43db3707f3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6" name="Footer Placeholder 5" descr="c1401364-ad55-49e5-9b83-6c75fb9eed9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4b354d4f-34d5-45b6-b154-106e528a3f9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8" name="Straight Connector 7" descr="a898284d-c14e-4066-b5d4-5f06f31bff4c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1b706eab-5c7d-4edc-a8b7-d134825e7af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08f5f13d-06e0-4521-9d50-d52f55644fcc"/>
          <p:cNvGrpSpPr/>
          <p:nvPr/>
        </p:nvGrpSpPr>
        <p:grpSpPr>
          <a:xfrm>
            <a:off x="0" y="1955800"/>
            <a:ext cx="12192000" cy="4902200"/>
            <a:chOff x="0" y="1955800"/>
            <a:chExt cx="12192000" cy="4902200"/>
          </a:xfrm>
        </p:grpSpPr>
        <p:sp>
          <p:nvSpPr>
            <p:cNvPr id="8" name="Rectangle 7" descr="cc8430ed-f9fb-4151-a726-aa369f5449d0"/>
            <p:cNvSpPr>
              <a:spLocks noChangeAspect="1"/>
            </p:cNvSpPr>
            <p:nvPr/>
          </p:nvSpPr>
          <p:spPr>
            <a:xfrm>
              <a:off x="0" y="1955800"/>
              <a:ext cx="12192000" cy="4902200"/>
            </a:xfrm>
            <a:prstGeom prst="rect">
              <a:avLst/>
            </a:prstGeom>
            <a:blipFill dpi="0" rotWithShape="1">
              <a:blip r:embed="rId2"/>
              <a:stretch>
                <a:fillRect t="-23318" b="-6321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 descr="9a2772df-f3e0-4331-a837-7000f97f38ca"/>
            <p:cNvSpPr/>
            <p:nvPr/>
          </p:nvSpPr>
          <p:spPr>
            <a:xfrm flipH="1">
              <a:off x="1333500" y="2445911"/>
              <a:ext cx="499110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923944f6-3728-4498-b501-8c55ea91429b"/>
          <p:cNvSpPr>
            <a:spLocks noGrp="1"/>
          </p:cNvSpPr>
          <p:nvPr>
            <p:ph type="title" hasCustomPrompt="1"/>
          </p:nvPr>
        </p:nvSpPr>
        <p:spPr>
          <a:xfrm>
            <a:off x="3371850" y="2802223"/>
            <a:ext cx="5435600" cy="987399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21"/>
            <a:ext cx="5435600" cy="234447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aa327319-06ca-4f95-a720-0bf58a576f9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e6e17fe4-512e-4deb-8326-3920e84e888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adb9df31-4f32-49a9-9026-78c473632cb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49c46fa-a821-477e-9d76-2f926304a18b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df2ec588-1ae9-4726-aa74-d00ab7a9a9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4" name="Footer Placeholder 3" descr="d259bead-e4f8-4382-ad53-4cb06d1824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747f4a68-b2e5-4a93-9337-905055e165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8636c884-da70-434d-9ea8-9608a527c5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3" name="Footer Placeholder 2" descr="66669f85-516b-4e9c-887d-ee091cbb80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88718360-e5b0-4197-a4cd-ce9878e29ed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43b21051-ebce-4dfd-8812-90e9298f099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5" descr="3aca4bd2-ff0e-4d91-943e-75b05c969a92"/>
            <p:cNvSpPr>
              <a:spLocks noChangeAspect="1"/>
            </p:cNvSpPr>
            <p:nvPr/>
          </p:nvSpPr>
          <p:spPr>
            <a:xfrm flipH="1" flipV="1"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2"/>
              <a:stretch>
                <a:fillRect t="-32964" b="-37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 descr="0de4f874-db44-48c4-a205-10e34e6abfd3"/>
            <p:cNvSpPr/>
            <p:nvPr/>
          </p:nvSpPr>
          <p:spPr>
            <a:xfrm>
              <a:off x="5727701" y="5905500"/>
              <a:ext cx="5422899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 descr="71701a5b-95a5-4cbe-a9ab-16c76343a67e"/>
          <p:cNvSpPr>
            <a:spLocks noGrp="1"/>
          </p:cNvSpPr>
          <p:nvPr>
            <p:ph type="title" hasCustomPrompt="1"/>
          </p:nvPr>
        </p:nvSpPr>
        <p:spPr>
          <a:xfrm>
            <a:off x="5178287" y="3326130"/>
            <a:ext cx="6340613" cy="2381250"/>
          </a:xfrm>
        </p:spPr>
        <p:txBody>
          <a:bodyPr anchor="ctr">
            <a:normAutofit/>
          </a:bodyPr>
          <a:lstStyle>
            <a:lvl1pPr algn="r"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0ffd2a62-0e71-48f2-bb43-9d1636219b2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7022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f048e163-a0cb-4023-99ed-38caabd6643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454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内容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7" hasCustomPrompt="1"/>
            <p:custDataLst>
              <p:tags r:id="rId3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1524000"/>
            <a:ext cx="5029200" cy="472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和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43688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8128000" y="25908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432800" y="3048000"/>
            <a:ext cx="28448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和文本卡片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2590800"/>
            <a:ext cx="5334000" cy="3657600"/>
          </a:xfrm>
          <a:custGeom>
            <a:avLst/>
            <a:gdLst>
              <a:gd name="connisteX0" fmla="*/ 0 w 5334000"/>
              <a:gd name="connsiteY0" fmla="*/ 203200 h 3657600"/>
              <a:gd name="connisteX1" fmla="*/ 203200 w 5334000"/>
              <a:gd name="connsiteY1" fmla="*/ 0 h 3657600"/>
              <a:gd name="connisteX2" fmla="*/ 5130800 w 5334000"/>
              <a:gd name="connsiteY2" fmla="*/ 0 h 3657600"/>
              <a:gd name="connisteX3" fmla="*/ 5334000 w 5334000"/>
              <a:gd name="connsiteY3" fmla="*/ 203200 h 3657600"/>
              <a:gd name="connisteX4" fmla="*/ 5334000 w 5334000"/>
              <a:gd name="connsiteY4" fmla="*/ 3454400 h 3657600"/>
              <a:gd name="connisteX5" fmla="*/ 5130800 w 5334000"/>
              <a:gd name="connsiteY5" fmla="*/ 3657600 h 3657600"/>
              <a:gd name="connisteX6" fmla="*/ 203200 w 5334000"/>
              <a:gd name="connsiteY6" fmla="*/ 3657600 h 3657600"/>
              <a:gd name="connisteX7" fmla="*/ 0 w 5334000"/>
              <a:gd name="connsiteY7" fmla="*/ 3454400 h 3657600"/>
              <a:gd name="connisteX8" fmla="*/ 0 w 53340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454400"/>
                </a:lnTo>
                <a:cubicBezTo>
                  <a:pt x="5334000" y="3566624"/>
                  <a:pt x="5243024" y="3657600"/>
                  <a:pt x="51308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048000"/>
            <a:ext cx="47244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248400" y="2590800"/>
            <a:ext cx="5334000" cy="3657600"/>
          </a:xfrm>
          <a:custGeom>
            <a:avLst/>
            <a:gdLst>
              <a:gd name="connisteX0" fmla="*/ 0 w 5334000"/>
              <a:gd name="connsiteY0" fmla="*/ 203200 h 3657600"/>
              <a:gd name="connisteX1" fmla="*/ 203200 w 5334000"/>
              <a:gd name="connsiteY1" fmla="*/ 0 h 3657600"/>
              <a:gd name="connisteX2" fmla="*/ 5130800 w 5334000"/>
              <a:gd name="connsiteY2" fmla="*/ 0 h 3657600"/>
              <a:gd name="connisteX3" fmla="*/ 5334000 w 5334000"/>
              <a:gd name="connsiteY3" fmla="*/ 203200 h 3657600"/>
              <a:gd name="connisteX4" fmla="*/ 5334000 w 5334000"/>
              <a:gd name="connsiteY4" fmla="*/ 3454400 h 3657600"/>
              <a:gd name="connisteX5" fmla="*/ 5130800 w 5334000"/>
              <a:gd name="connsiteY5" fmla="*/ 3657600 h 3657600"/>
              <a:gd name="connisteX6" fmla="*/ 203200 w 5334000"/>
              <a:gd name="connsiteY6" fmla="*/ 3657600 h 3657600"/>
              <a:gd name="connisteX7" fmla="*/ 0 w 5334000"/>
              <a:gd name="connsiteY7" fmla="*/ 3454400 h 3657600"/>
              <a:gd name="connisteX8" fmla="*/ 0 w 53340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454400"/>
                </a:lnTo>
                <a:cubicBezTo>
                  <a:pt x="5334000" y="3566624"/>
                  <a:pt x="5243024" y="3657600"/>
                  <a:pt x="51308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53200" y="3048000"/>
            <a:ext cx="4724400" cy="2743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宫格文本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22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22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722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7216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5722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7216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9" hasCustomPrompt="1"/>
            <p:custDataLst>
              <p:tags r:id="rId6"/>
            </p:custDataLst>
          </p:nvPr>
        </p:nvSpPr>
        <p:spPr>
          <a:xfrm>
            <a:off x="43180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228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228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400" hasCustomPrompt="1"/>
            <p:custDataLst>
              <p:tags r:id="rId9"/>
            </p:custDataLst>
          </p:nvPr>
        </p:nvSpPr>
        <p:spPr>
          <a:xfrm>
            <a:off x="8026400" y="15240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19304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4892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401" hasCustomPrompt="1"/>
            <p:custDataLst>
              <p:tags r:id="rId12"/>
            </p:custDataLst>
          </p:nvPr>
        </p:nvSpPr>
        <p:spPr>
          <a:xfrm>
            <a:off x="6096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144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144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2" hasCustomPrompt="1"/>
            <p:custDataLst>
              <p:tags r:id="rId15"/>
            </p:custDataLst>
          </p:nvPr>
        </p:nvSpPr>
        <p:spPr>
          <a:xfrm>
            <a:off x="43180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46228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46228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22" name="装饰  1"/>
          <p:cNvSpPr>
            <a:spLocks noGrp="1"/>
          </p:cNvSpPr>
          <p:nvPr>
            <p:ph type="body" idx="16403" hasCustomPrompt="1"/>
            <p:custDataLst>
              <p:tags r:id="rId18"/>
            </p:custDataLst>
          </p:nvPr>
        </p:nvSpPr>
        <p:spPr>
          <a:xfrm>
            <a:off x="8026400" y="3962400"/>
            <a:ext cx="3556000" cy="2286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8331200" y="4368800"/>
            <a:ext cx="294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20"/>
            </p:custDataLst>
          </p:nvPr>
        </p:nvSpPr>
        <p:spPr>
          <a:xfrm>
            <a:off x="8331200" y="4927600"/>
            <a:ext cx="2946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内容下多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5080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56388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92964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2964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92964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37338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5532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372600" y="2082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多行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6934200" cy="2667000"/>
          </a:xfrm>
          <a:custGeom>
            <a:avLst/>
            <a:gdLst>
              <a:gd name="connisteX0" fmla="*/ 0 w 6934200"/>
              <a:gd name="connsiteY0" fmla="*/ 203200 h 2667000"/>
              <a:gd name="connisteX1" fmla="*/ 203200 w 6934200"/>
              <a:gd name="connsiteY1" fmla="*/ 0 h 2667000"/>
              <a:gd name="connisteX2" fmla="*/ 6731000 w 6934200"/>
              <a:gd name="connsiteY2" fmla="*/ 0 h 2667000"/>
              <a:gd name="connisteX3" fmla="*/ 6934200 w 6934200"/>
              <a:gd name="connsiteY3" fmla="*/ 203200 h 2667000"/>
              <a:gd name="connisteX4" fmla="*/ 6934200 w 6934200"/>
              <a:gd name="connsiteY4" fmla="*/ 2463800 h 2667000"/>
              <a:gd name="connisteX5" fmla="*/ 6731000 w 6934200"/>
              <a:gd name="connsiteY5" fmla="*/ 2667000 h 2667000"/>
              <a:gd name="connisteX6" fmla="*/ 203200 w 6934200"/>
              <a:gd name="connsiteY6" fmla="*/ 2667000 h 2667000"/>
              <a:gd name="connisteX7" fmla="*/ 0 w 6934200"/>
              <a:gd name="connsiteY7" fmla="*/ 2463800 h 2667000"/>
              <a:gd name="connisteX8" fmla="*/ 0 w 6934200"/>
              <a:gd name="connsiteY8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463800"/>
                </a:lnTo>
                <a:cubicBezTo>
                  <a:pt x="6934200" y="2576024"/>
                  <a:pt x="6843224" y="2667000"/>
                  <a:pt x="6731000" y="2667000"/>
                </a:cubicBez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953000" y="9017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953000" y="1460500"/>
            <a:ext cx="6324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3581400"/>
            <a:ext cx="6934200" cy="2667000"/>
          </a:xfrm>
          <a:custGeom>
            <a:avLst/>
            <a:gdLst>
              <a:gd name="connisteX0" fmla="*/ 0 w 6934200"/>
              <a:gd name="connsiteY0" fmla="*/ 203200 h 2667000"/>
              <a:gd name="connisteX1" fmla="*/ 203200 w 6934200"/>
              <a:gd name="connsiteY1" fmla="*/ 0 h 2667000"/>
              <a:gd name="connisteX2" fmla="*/ 6731000 w 6934200"/>
              <a:gd name="connsiteY2" fmla="*/ 0 h 2667000"/>
              <a:gd name="connisteX3" fmla="*/ 6934200 w 6934200"/>
              <a:gd name="connsiteY3" fmla="*/ 203200 h 2667000"/>
              <a:gd name="connisteX4" fmla="*/ 6934200 w 6934200"/>
              <a:gd name="connsiteY4" fmla="*/ 2463800 h 2667000"/>
              <a:gd name="connisteX5" fmla="*/ 6731000 w 6934200"/>
              <a:gd name="connsiteY5" fmla="*/ 2667000 h 2667000"/>
              <a:gd name="connisteX6" fmla="*/ 203200 w 6934200"/>
              <a:gd name="connsiteY6" fmla="*/ 2667000 h 2667000"/>
              <a:gd name="connisteX7" fmla="*/ 0 w 6934200"/>
              <a:gd name="connsiteY7" fmla="*/ 2463800 h 2667000"/>
              <a:gd name="connisteX8" fmla="*/ 0 w 6934200"/>
              <a:gd name="connsiteY8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463800"/>
                </a:lnTo>
                <a:cubicBezTo>
                  <a:pt x="6934200" y="2576024"/>
                  <a:pt x="6843224" y="2667000"/>
                  <a:pt x="6731000" y="2667000"/>
                </a:cubicBez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953000" y="38735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953000" y="4432300"/>
            <a:ext cx="6324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2项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028700" y="19939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895600" y="2019300"/>
            <a:ext cx="8280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28700" y="45085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895600" y="4533900"/>
            <a:ext cx="8280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0305147" y="1"/>
            <a:ext cx="1886854" cy="6857999"/>
            <a:chOff x="10305147" y="1"/>
            <a:chExt cx="1886854" cy="6857999"/>
          </a:xfrm>
        </p:grpSpPr>
        <p:sp>
          <p:nvSpPr>
            <p:cNvPr id="8" name="Rectangle 7"/>
            <p:cNvSpPr>
              <a:spLocks noChangeAspect="1"/>
            </p:cNvSpPr>
            <p:nvPr/>
          </p:nvSpPr>
          <p:spPr>
            <a:xfrm rot="16200000" flipH="1">
              <a:off x="7819574" y="2485574"/>
              <a:ext cx="6857999" cy="1886854"/>
            </a:xfrm>
            <a:prstGeom prst="rect">
              <a:avLst/>
            </a:prstGeom>
            <a:blipFill dpi="0" rotWithShape="1">
              <a:blip r:embed="rId2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 t="-23318" b="-6321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 flipH="1">
              <a:off x="9438143" y="1445755"/>
              <a:ext cx="302486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0305147" y="1"/>
            <a:ext cx="1886854" cy="6857999"/>
            <a:chOff x="10305147" y="1"/>
            <a:chExt cx="1886854" cy="6857999"/>
          </a:xfrm>
        </p:grpSpPr>
        <p:sp>
          <p:nvSpPr>
            <p:cNvPr id="8" name="Rectangle 7"/>
            <p:cNvSpPr>
              <a:spLocks noChangeAspect="1"/>
            </p:cNvSpPr>
            <p:nvPr/>
          </p:nvSpPr>
          <p:spPr>
            <a:xfrm rot="16200000" flipH="1">
              <a:off x="7819574" y="2485574"/>
              <a:ext cx="6857999" cy="1886854"/>
            </a:xfrm>
            <a:prstGeom prst="rect">
              <a:avLst/>
            </a:prstGeom>
            <a:blipFill dpi="0" rotWithShape="1">
              <a:blip r:embed="rId2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 t="-23318" b="-6321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dk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 flipH="1">
              <a:off x="9438143" y="1445755"/>
              <a:ext cx="3024860" cy="1162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274.xml"/><Relationship Id="rId20" Type="http://schemas.openxmlformats.org/officeDocument/2006/relationships/tags" Target="../tags/tag273.xml"/><Relationship Id="rId2" Type="http://schemas.openxmlformats.org/officeDocument/2006/relationships/tags" Target="../tags/tag255.xml"/><Relationship Id="rId19" Type="http://schemas.openxmlformats.org/officeDocument/2006/relationships/tags" Target="../tags/tag272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285.xml"/><Relationship Id="rId4" Type="http://schemas.openxmlformats.org/officeDocument/2006/relationships/image" Target="../media/image3.png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0.xml"/><Relationship Id="rId5" Type="http://schemas.openxmlformats.org/officeDocument/2006/relationships/tags" Target="../tags/tag28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287.xml"/><Relationship Id="rId1" Type="http://schemas.openxmlformats.org/officeDocument/2006/relationships/tags" Target="../tags/tag28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91.xml"/><Relationship Id="rId3" Type="http://schemas.openxmlformats.org/officeDocument/2006/relationships/image" Target="../media/image6.png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94.xml"/><Relationship Id="rId3" Type="http://schemas.openxmlformats.org/officeDocument/2006/relationships/image" Target="../media/image7.png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2" Type="http://schemas.openxmlformats.org/officeDocument/2006/relationships/slideLayout" Target="../slideLayouts/slideLayout20.xml"/><Relationship Id="rId11" Type="http://schemas.openxmlformats.org/officeDocument/2006/relationships/tags" Target="../tags/tag305.xml"/><Relationship Id="rId10" Type="http://schemas.openxmlformats.org/officeDocument/2006/relationships/image" Target="../media/image8.png"/><Relationship Id="rId1" Type="http://schemas.openxmlformats.org/officeDocument/2006/relationships/tags" Target="../tags/tag29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tags" Target="../tags/tag336.xml"/><Relationship Id="rId12" Type="http://schemas.openxmlformats.org/officeDocument/2006/relationships/tags" Target="../tags/tag335.xml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tags" Target="../tags/tag32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7" Type="http://schemas.openxmlformats.org/officeDocument/2006/relationships/slideLayout" Target="../slideLayouts/slideLayout15.xml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3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tags" Target="../tags/tag381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390.xml"/><Relationship Id="rId15" Type="http://schemas.openxmlformats.org/officeDocument/2006/relationships/tags" Target="../tags/tag389.xml"/><Relationship Id="rId14" Type="http://schemas.openxmlformats.org/officeDocument/2006/relationships/tags" Target="../tags/tag388.xml"/><Relationship Id="rId13" Type="http://schemas.openxmlformats.org/officeDocument/2006/relationships/tags" Target="../tags/tag387.xml"/><Relationship Id="rId12" Type="http://schemas.openxmlformats.org/officeDocument/2006/relationships/tags" Target="../tags/tag386.xml"/><Relationship Id="rId11" Type="http://schemas.openxmlformats.org/officeDocument/2006/relationships/tags" Target="../tags/tag385.xml"/><Relationship Id="rId10" Type="http://schemas.openxmlformats.org/officeDocument/2006/relationships/tags" Target="../tags/tag384.xml"/><Relationship Id="rId1" Type="http://schemas.openxmlformats.org/officeDocument/2006/relationships/tags" Target="../tags/tag37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39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9" Type="http://schemas.openxmlformats.org/officeDocument/2006/relationships/slideLayout" Target="../slideLayouts/slideLayout19.xml"/><Relationship Id="rId18" Type="http://schemas.openxmlformats.org/officeDocument/2006/relationships/tags" Target="../tags/tag417.xml"/><Relationship Id="rId17" Type="http://schemas.openxmlformats.org/officeDocument/2006/relationships/tags" Target="../tags/tag416.xml"/><Relationship Id="rId16" Type="http://schemas.openxmlformats.org/officeDocument/2006/relationships/tags" Target="../tags/tag415.xml"/><Relationship Id="rId15" Type="http://schemas.openxmlformats.org/officeDocument/2006/relationships/tags" Target="../tags/tag414.xml"/><Relationship Id="rId14" Type="http://schemas.openxmlformats.org/officeDocument/2006/relationships/tags" Target="../tags/tag413.xml"/><Relationship Id="rId13" Type="http://schemas.openxmlformats.org/officeDocument/2006/relationships/tags" Target="../tags/tag412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tags" Target="../tags/tag40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1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0" Type="http://schemas.openxmlformats.org/officeDocument/2006/relationships/slideLayout" Target="../slideLayouts/slideLayout21.xml"/><Relationship Id="rId1" Type="http://schemas.openxmlformats.org/officeDocument/2006/relationships/tags" Target="../tags/tag4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31d97f43-0eb7-48d1-b67d-b75e42550787"/>
          <p:cNvSpPr>
            <a:spLocks noGrp="1"/>
          </p:cNvSpPr>
          <p:nvPr>
            <p:ph type="ctrTitle" hasCustomPrompt="1"/>
          </p:nvPr>
        </p:nvSpPr>
        <p:spPr>
          <a:xfrm>
            <a:off x="4781550" y="2452370"/>
            <a:ext cx="6737350" cy="92964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320" b="1" i="0" u="none">
                <a:solidFill>
                  <a:srgbClr val="000000"/>
                </a:solidFill>
                <a:latin typeface="Arial" panose="020B0604020202020204"/>
              </a:rPr>
              <a:t>GitHub项目深度分析器</a:t>
            </a:r>
            <a:endParaRPr lang="en-US" sz="432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副标题 2" descr="3a20c090-741c-4906-aec5-c17530e130fd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000000"/>
                </a:solidFill>
                <a:ea typeface="微软雅黑" panose="020B0503020204020204" charset="-122"/>
              </a:rPr>
              <a:t>全面评估与预测GitHub项目</a:t>
            </a:r>
            <a:endParaRPr lang="en-US" sz="20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8" name="文本占位符 7" descr="6ed074fc-70f1-4539-a1ee-d53720cbe109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095"/>
            <a:ext cx="4539615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altLang="zh-CN" sz="1600" b="0" i="0" u="none">
                <a:solidFill>
                  <a:srgbClr val="000000"/>
                </a:solidFill>
                <a:ea typeface="微软雅黑" panose="020B0503020204020204" charset="-122"/>
              </a:rPr>
              <a:t>Project Analyzer</a:t>
            </a:r>
            <a:r>
              <a:rPr lang="zh-CN" alt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团队：彭欣</a:t>
            </a:r>
            <a:r>
              <a:rPr lang="en-US" altLang="zh-CN" sz="1600" b="0" i="0" u="none">
                <a:solidFill>
                  <a:srgbClr val="000000"/>
                </a:solidFill>
                <a:ea typeface="微软雅黑" panose="020B0503020204020204" charset="-122"/>
              </a:rPr>
              <a:t> </a:t>
            </a:r>
            <a:r>
              <a:rPr lang="zh-CN" alt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范力行</a:t>
            </a:r>
            <a:endParaRPr lang="zh-CN" alt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15723d0a-06f7-459a-b73b-2296f584645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1272540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400">
                <a:latin typeface="微软雅黑" panose="020B0503020204020204" charset="-122"/>
              </a:rPr>
              <a:t>2025.12.26</a:t>
            </a:r>
            <a:endParaRPr lang="en-US" sz="1400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626745"/>
            <a:ext cx="1010285" cy="539750"/>
          </a:xfrm>
        </p:spPr>
        <p:txBody>
          <a:bodyPr/>
          <a:lstStyle/>
          <a:p>
            <a:r>
              <a:rPr lang="zh-CN" altLang="en-US" sz="2800" b="1"/>
              <a:t>目录</a:t>
            </a:r>
            <a:endParaRPr lang="zh-CN" altLang="en-US" sz="2800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609600" y="1879600"/>
            <a:ext cx="1735455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09600" y="2438400"/>
            <a:ext cx="2289175" cy="404495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本项目的</a:t>
            </a:r>
            <a:r>
              <a:rPr lang="en-US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基本信息与特点</a:t>
            </a:r>
            <a:endParaRPr lang="en-US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419600" y="1879600"/>
            <a:ext cx="1850390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功能描述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预测分析与项目间对比</a:t>
            </a:r>
            <a:endParaRPr lang="zh-CN" altLang="en-US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8229600" y="1879600"/>
            <a:ext cx="1747520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3. </a:t>
            </a:r>
            <a:r>
              <a:rPr lang="zh-CN" altLang="en-US">
                <a:sym typeface="+mn-ea"/>
              </a:rPr>
              <a:t>操作说明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一键启动，两键关机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>
          <a:xfrm>
            <a:off x="609600" y="4114800"/>
            <a:ext cx="1734820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分析过程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>
          <a:xfrm>
            <a:off x="609600" y="4673600"/>
            <a:ext cx="1929765" cy="490220"/>
          </a:xfrm>
        </p:spPr>
        <p:txBody>
          <a:bodyPr/>
          <a:lstStyle/>
          <a:p>
            <a:r>
              <a:rPr lang="zh-CN" altLang="en-US">
                <a:sym typeface="+mn-ea"/>
              </a:rPr>
              <a:t>分层、预测、评估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>
          <a:xfrm>
            <a:off x="4419600" y="4114800"/>
            <a:ext cx="1851025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5. </a:t>
            </a:r>
            <a:r>
              <a:rPr lang="zh-CN" altLang="en-US"/>
              <a:t>注意事项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5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一些内部的实现方式</a:t>
            </a:r>
            <a:endParaRPr lang="en-US" altLang="zh-CN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6"/>
            <p:custDataLst>
              <p:tags r:id="rId13"/>
            </p:custDataLst>
          </p:nvPr>
        </p:nvSpPr>
        <p:spPr>
          <a:xfrm>
            <a:off x="8229600" y="4114800"/>
            <a:ext cx="1747520" cy="406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/>
              <a:t>6. </a:t>
            </a:r>
            <a:r>
              <a:rPr lang="zh-CN" altLang="en-US"/>
              <a:t>结尾</a:t>
            </a:r>
            <a:endParaRPr lang="zh-CN" altLang="en-US"/>
          </a:p>
        </p:txBody>
      </p:sp>
      <p:sp>
        <p:nvSpPr>
          <p:cNvPr id="50" name="Number1" descr="a7b7e92f-0e61-4a7f-8db4-d9008ffa7162"/>
          <p:cNvSpPr/>
          <p:nvPr>
            <p:custDataLst>
              <p:tags r:id="rId14"/>
            </p:custDataLst>
          </p:nvPr>
        </p:nvSpPr>
        <p:spPr>
          <a:xfrm>
            <a:off x="343788" y="17895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>
            <a:normAutofit/>
          </a:bodyPr>
          <a:lstStyle/>
          <a:p>
            <a:pPr algn="ctr"/>
            <a:r>
              <a:rPr lang="en-US" sz="1800" b="1" i="0" u="none">
                <a:solidFill>
                  <a:srgbClr val="FFFFFF"/>
                </a:solidFill>
                <a:latin typeface="Arial" panose="020B0604020202020204"/>
              </a:rPr>
              <a:t>01</a:t>
            </a:r>
            <a:endParaRPr lang="en-US" sz="18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1" name="Number2" descr="4016da6a-a1dd-4ff1-b82f-fa1afe4130b2"/>
          <p:cNvSpPr/>
          <p:nvPr>
            <p:custDataLst>
              <p:tags r:id="rId15"/>
            </p:custDataLst>
          </p:nvPr>
        </p:nvSpPr>
        <p:spPr>
          <a:xfrm>
            <a:off x="4150426" y="17895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75000">
                <a:schemeClr val="accent2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lang="en-US" sz="2000" b="1" i="0" u="none">
                <a:solidFill>
                  <a:srgbClr val="FFFFFF"/>
                </a:solidFill>
                <a:latin typeface="Arial" panose="020B0604020202020204"/>
              </a:rPr>
              <a:t>02</a:t>
            </a:r>
            <a:endParaRPr lang="en-US" sz="20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Number2" descr="4016da6a-a1dd-4ff1-b82f-fa1afe4130b2"/>
          <p:cNvSpPr/>
          <p:nvPr>
            <p:custDataLst>
              <p:tags r:id="rId16"/>
            </p:custDataLst>
          </p:nvPr>
        </p:nvSpPr>
        <p:spPr>
          <a:xfrm>
            <a:off x="343601" y="40247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75000">
                <a:schemeClr val="accent2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lang="en-US" sz="2000" b="1" i="0" u="none">
                <a:solidFill>
                  <a:srgbClr val="FFFFFF"/>
                </a:solidFill>
                <a:latin typeface="Arial" panose="020B0604020202020204"/>
              </a:rPr>
              <a:t>04</a:t>
            </a:r>
            <a:endParaRPr lang="en-US" sz="20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Number2" descr="4016da6a-a1dd-4ff1-b82f-fa1afe4130b2"/>
          <p:cNvSpPr/>
          <p:nvPr>
            <p:custDataLst>
              <p:tags r:id="rId17"/>
            </p:custDataLst>
          </p:nvPr>
        </p:nvSpPr>
        <p:spPr>
          <a:xfrm>
            <a:off x="7957251" y="40247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75000">
                <a:schemeClr val="accent2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lang="en-US" sz="2000" b="1" i="0" u="none">
                <a:solidFill>
                  <a:srgbClr val="FFFFFF"/>
                </a:solidFill>
                <a:latin typeface="Arial" panose="020B0604020202020204"/>
              </a:rPr>
              <a:t>06</a:t>
            </a:r>
            <a:endParaRPr lang="en-US" sz="20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Number1" descr="a7b7e92f-0e61-4a7f-8db4-d9008ffa7162"/>
          <p:cNvSpPr/>
          <p:nvPr>
            <p:custDataLst>
              <p:tags r:id="rId18"/>
            </p:custDataLst>
          </p:nvPr>
        </p:nvSpPr>
        <p:spPr>
          <a:xfrm>
            <a:off x="7957438" y="17895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>
            <a:normAutofit/>
          </a:bodyPr>
          <a:lstStyle/>
          <a:p>
            <a:pPr algn="ctr"/>
            <a:r>
              <a:rPr lang="en-US" sz="1800" b="1" i="0" u="none">
                <a:solidFill>
                  <a:srgbClr val="FFFFFF"/>
                </a:solidFill>
                <a:latin typeface="Arial" panose="020B0604020202020204"/>
              </a:rPr>
              <a:t>03</a:t>
            </a:r>
            <a:endParaRPr lang="en-US" sz="18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Number1" descr="a7b7e92f-0e61-4a7f-8db4-d9008ffa7162"/>
          <p:cNvSpPr/>
          <p:nvPr>
            <p:custDataLst>
              <p:tags r:id="rId19"/>
            </p:custDataLst>
          </p:nvPr>
        </p:nvSpPr>
        <p:spPr>
          <a:xfrm>
            <a:off x="4150613" y="4024771"/>
            <a:ext cx="586504" cy="58650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lin ang="2700000" scaled="1"/>
            <a:tileRect/>
          </a:gradFill>
          <a:ln w="12700"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>
            <a:normAutofit/>
          </a:bodyPr>
          <a:lstStyle/>
          <a:p>
            <a:pPr algn="ctr"/>
            <a:r>
              <a:rPr lang="en-US" sz="1800" b="1" i="0" u="none">
                <a:solidFill>
                  <a:srgbClr val="FFFFFF"/>
                </a:solidFill>
                <a:latin typeface="Arial" panose="020B0604020202020204"/>
              </a:rPr>
              <a:t>05</a:t>
            </a:r>
            <a:endParaRPr lang="en-US" sz="18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直接连接符 19" descr="22ae64ce-e6cd-498c-9b2b-e0a633bc8806"/>
          <p:cNvSpPr/>
          <p:nvPr>
            <p:custDataLst>
              <p:tags r:id="rId20"/>
            </p:custDataLst>
          </p:nvPr>
        </p:nvSpPr>
        <p:spPr>
          <a:xfrm>
            <a:off x="609599" y="122029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  <p:custDataLst>
      <p:tags r:id="rId2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23944f6-3728-4498-b501-8c55ea91429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000000"/>
                </a:solidFill>
                <a:ea typeface="微软雅黑" panose="020B0503020204020204" charset="-122"/>
              </a:rPr>
              <a:t>项目概述</a:t>
            </a:r>
            <a:endParaRPr lang="en-US" sz="54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80"/>
            <a:ext cx="5435600" cy="736600"/>
          </a:xfrm>
        </p:spPr>
        <p:txBody>
          <a:bodyPr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本项目的</a:t>
            </a:r>
            <a:r>
              <a:rPr 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基本信息与特点</a:t>
            </a:r>
            <a:endParaRPr lang="en-US" sz="2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3378199" y="378950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项目</a:t>
            </a:r>
            <a:r>
              <a:rPr lang="zh-CN" altLang="en-US" b="1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概述</a:t>
            </a:r>
            <a:endParaRPr lang="zh-CN" altLang="en-US" b="1">
              <a:solidFill>
                <a:srgbClr val="000000"/>
              </a:solidFill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6387"/>
            <p:custDataLst>
              <p:tags r:id="rId2"/>
            </p:custDataLst>
          </p:nvPr>
        </p:nvGraphicFramePr>
        <p:xfrm>
          <a:off x="6096000" y="1524000"/>
          <a:ext cx="5486400" cy="4257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050"/>
                <a:gridCol w="4451350"/>
              </a:tblGrid>
              <a:tr h="141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200"/>
                        <a:t>编程语言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3200"/>
                        <a:t>Python, JavaScript</a:t>
                      </a:r>
                      <a:endParaRPr lang="en-US" altLang="zh-CN" sz="3200"/>
                    </a:p>
                  </a:txBody>
                  <a:tcPr/>
                </a:tc>
              </a:tr>
              <a:tr h="141922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3200" b="1">
                          <a:solidFill>
                            <a:schemeClr val="lt1"/>
                          </a:solidFill>
                        </a:rPr>
                        <a:t>主要技术</a:t>
                      </a:r>
                      <a:endParaRPr lang="zh-CN" altLang="en-US" sz="3200" b="1">
                        <a:solidFill>
                          <a:schemeClr val="l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3200" b="1">
                          <a:solidFill>
                            <a:schemeClr val="lt1"/>
                          </a:solidFill>
                        </a:rPr>
                        <a:t>Prophet, AHP, GMM, Flask, React</a:t>
                      </a:r>
                      <a:endParaRPr lang="en-US" altLang="zh-CN" sz="3200" b="1">
                        <a:solidFill>
                          <a:schemeClr val="lt1"/>
                        </a:solidFill>
                      </a:endParaRPr>
                    </a:p>
                  </a:txBody>
                  <a:tcPr/>
                </a:tc>
              </a:tr>
              <a:tr h="141922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32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数据来源</a:t>
                      </a:r>
                      <a:endParaRPr lang="en-US" altLang="zh-CN" sz="3200" b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32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GitHub API, OpenDigger API</a:t>
                      </a:r>
                      <a:endParaRPr lang="en-US" altLang="zh-CN" sz="3200" b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609600" y="1143000"/>
            <a:ext cx="5029200" cy="4986655"/>
          </a:xfrm>
        </p:spPr>
        <p:txBody>
          <a:bodyPr>
            <a:normAutofit/>
          </a:bodyPr>
          <a:lstStyle/>
          <a:p>
            <a:pPr indent="457200" algn="l"/>
            <a:r>
              <a:rPr lang="en-US" altLang="zh-CN" sz="1800" b="1"/>
              <a:t>GitHub</a:t>
            </a:r>
            <a:r>
              <a:rPr lang="zh-CN" altLang="en-US" sz="1800" b="1"/>
              <a:t>项目深度分析器</a:t>
            </a:r>
            <a:r>
              <a:rPr lang="zh-CN" altLang="en-US" sz="1800"/>
              <a:t>是一个用于对</a:t>
            </a:r>
            <a:r>
              <a:rPr lang="en-US" altLang="zh-CN" sz="1800"/>
              <a:t>GitHub</a:t>
            </a:r>
            <a:r>
              <a:rPr lang="zh-CN" altLang="en-US" sz="1800"/>
              <a:t>项目进行综合评估和预测的工具，它结合了多种机器学习算法和数据分析技术，提供了项目的</a:t>
            </a:r>
            <a:r>
              <a:rPr lang="zh-CN" altLang="en-US" sz="1800" b="1"/>
              <a:t>层级分类、趋势预测、健康评估</a:t>
            </a:r>
            <a:r>
              <a:rPr lang="zh-CN" altLang="en-US" sz="1800"/>
              <a:t>等功能。该工具旨在帮助用户更好地了解</a:t>
            </a:r>
            <a:r>
              <a:rPr lang="en-US" altLang="zh-CN" sz="1800"/>
              <a:t>GitHub</a:t>
            </a:r>
            <a:r>
              <a:rPr lang="zh-CN" altLang="en-US" sz="1800"/>
              <a:t>项目的发展状况和潜力。</a:t>
            </a:r>
            <a:endParaRPr lang="zh-CN" altLang="en-US" sz="1800"/>
          </a:p>
          <a:p>
            <a:pPr indent="457200" algn="l"/>
            <a:r>
              <a:rPr lang="en-US" altLang="zh-CN" sz="1800"/>
              <a:t>GitHub</a:t>
            </a:r>
            <a:r>
              <a:rPr lang="zh-CN" altLang="en-US" sz="1800"/>
              <a:t>项目深度分析器广泛适用于</a:t>
            </a:r>
            <a:r>
              <a:rPr lang="zh-CN" altLang="en-US" sz="1800" b="1"/>
              <a:t>项目评估</a:t>
            </a:r>
            <a:r>
              <a:rPr lang="zh-CN" altLang="en-US" sz="1800"/>
              <a:t>、</a:t>
            </a:r>
            <a:r>
              <a:rPr lang="zh-CN" altLang="en-US" sz="1800" b="1"/>
              <a:t>社区管理</a:t>
            </a:r>
            <a:r>
              <a:rPr lang="zh-CN" altLang="en-US" sz="1800"/>
              <a:t>、</a:t>
            </a:r>
            <a:r>
              <a:rPr lang="zh-CN" altLang="en-US" sz="1800" b="1"/>
              <a:t>竞争分析</a:t>
            </a:r>
            <a:r>
              <a:rPr lang="zh-CN" altLang="en-US" sz="1800"/>
              <a:t>、</a:t>
            </a:r>
            <a:r>
              <a:rPr lang="zh-CN" altLang="en-US" sz="1800" b="1"/>
              <a:t>趋势研究</a:t>
            </a:r>
            <a:r>
              <a:rPr lang="zh-CN" altLang="en-US" sz="1800"/>
              <a:t>等多种场景。它能够帮助用户</a:t>
            </a:r>
            <a:r>
              <a:rPr lang="zh-CN" altLang="en-US" sz="1800" b="1"/>
              <a:t>快速了解和对比</a:t>
            </a:r>
            <a:r>
              <a:rPr lang="zh-CN" altLang="en-US" sz="1800"/>
              <a:t>开源项目的</a:t>
            </a:r>
            <a:r>
              <a:rPr lang="zh-CN" altLang="en-US" sz="1800" b="1"/>
              <a:t>健康状况</a:t>
            </a:r>
            <a:r>
              <a:rPr lang="zh-CN" altLang="en-US" sz="1800"/>
              <a:t>、</a:t>
            </a:r>
            <a:r>
              <a:rPr lang="zh-CN" altLang="en-US" sz="1800" b="1"/>
              <a:t>发展潜力</a:t>
            </a:r>
            <a:r>
              <a:rPr lang="zh-CN" altLang="en-US" sz="1800"/>
              <a:t>与</a:t>
            </a:r>
            <a:r>
              <a:rPr lang="zh-CN" altLang="en-US" sz="1800" b="1"/>
              <a:t>风险等级</a:t>
            </a:r>
            <a:r>
              <a:rPr lang="zh-CN" altLang="en-US" sz="1800"/>
              <a:t>，支持数据驱动的决策，发现项目问题并制定改进策略，同时也为行业趋势分析、技术热点识别和学术研究提供了有力的数据分析工具。</a:t>
            </a:r>
            <a:endParaRPr lang="zh-CN" altLang="en-US" sz="180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4"/>
            </p:custDataLst>
          </p:nvPr>
        </p:nvSpPr>
        <p:spPr>
          <a:xfrm>
            <a:off x="609599" y="11428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23944f6-3728-4498-b501-8c55ea91429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000000"/>
                </a:solidFill>
                <a:ea typeface="微软雅黑" panose="020B0503020204020204" charset="-122"/>
              </a:rPr>
              <a:t>功能描述</a:t>
            </a:r>
            <a:endParaRPr lang="en-US" sz="54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d93c5c14-2722-478e-a99f-570f1b70a7e6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预测分析与项目间对比</a:t>
            </a:r>
            <a:endParaRPr lang="zh-CN" altLang="en-US" sz="2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3378199" y="378950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2237105" cy="4699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数据分析预测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252855"/>
            <a:ext cx="10784840" cy="1183640"/>
          </a:xfrm>
        </p:spPr>
        <p:txBody>
          <a:bodyPr>
            <a:normAutofit/>
          </a:bodyPr>
          <a:lstStyle/>
          <a:p>
            <a:pPr indent="457200"/>
            <a:r>
              <a:rPr lang="en-US" altLang="zh-CN" sz="2000" b="1"/>
              <a:t>GitHub</a:t>
            </a:r>
            <a:r>
              <a:rPr lang="zh-CN" altLang="en-US" sz="2000" b="1"/>
              <a:t>项目深度分析器</a:t>
            </a:r>
            <a:r>
              <a:rPr lang="zh-CN" altLang="en-US" sz="2000"/>
              <a:t>允许你传入</a:t>
            </a:r>
            <a:r>
              <a:rPr lang="zh-CN" altLang="en-US" sz="2000" b="1"/>
              <a:t>一个或多个</a:t>
            </a:r>
            <a:r>
              <a:rPr lang="en-US" altLang="zh-CN" sz="2000" b="1"/>
              <a:t>Github</a:t>
            </a:r>
            <a:r>
              <a:rPr lang="zh-CN" altLang="en-US" sz="2000" b="1"/>
              <a:t>仓库地址</a:t>
            </a:r>
            <a:r>
              <a:rPr lang="zh-CN" altLang="en-US" sz="2000"/>
              <a:t>，根据你的输入自动获取对应仓库的各项指标数据，并对其进行评估分析，以及对其发展趋势做出预测</a:t>
            </a:r>
            <a:r>
              <a:rPr lang="en-US" altLang="zh-CN" sz="2000"/>
              <a:t>.</a:t>
            </a:r>
            <a:endParaRPr lang="en-US" altLang="zh-CN" sz="2000"/>
          </a:p>
          <a:p>
            <a:pPr indent="457200"/>
            <a:r>
              <a:rPr lang="zh-CN" altLang="en-US" sz="2000"/>
              <a:t>最终将结果以</a:t>
            </a:r>
            <a:r>
              <a:rPr lang="zh-CN" altLang="en-US" sz="2000" b="1"/>
              <a:t>图表</a:t>
            </a:r>
            <a:r>
              <a:rPr lang="zh-CN" altLang="en-US" sz="2000"/>
              <a:t>、</a:t>
            </a:r>
            <a:r>
              <a:rPr lang="zh-CN" altLang="en-US" sz="2000" b="1"/>
              <a:t>文字报告</a:t>
            </a:r>
            <a:r>
              <a:rPr lang="zh-CN" altLang="en-US" sz="2000"/>
              <a:t>等格式输出。</a:t>
            </a:r>
            <a:r>
              <a:rPr lang="zh-CN" altLang="en-US" sz="1400"/>
              <a:t>（下图为以</a:t>
            </a:r>
            <a:r>
              <a:rPr lang="en-US" altLang="zh-CN" sz="1400"/>
              <a:t>Java</a:t>
            </a:r>
            <a:r>
              <a:rPr lang="zh-CN" altLang="en-US" sz="1400"/>
              <a:t>作演示项目所得的分析结果）</a:t>
            </a:r>
            <a:endParaRPr lang="zh-CN" altLang="en-US" sz="140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3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9" name="文本框 18"/>
          <p:cNvSpPr txBox="1"/>
          <p:nvPr/>
        </p:nvSpPr>
        <p:spPr>
          <a:xfrm>
            <a:off x="609600" y="5793105"/>
            <a:ext cx="1068006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/>
              <a:t>支持的指标</a:t>
            </a:r>
            <a:r>
              <a:rPr lang="zh-CN" altLang="en-US"/>
              <a:t>：</a:t>
            </a:r>
            <a:r>
              <a:rPr lang="en-US" altLang="zh-CN"/>
              <a:t>openrank</a:t>
            </a:r>
            <a:r>
              <a:rPr lang="zh-CN" altLang="en-US"/>
              <a:t>、</a:t>
            </a:r>
            <a:r>
              <a:rPr lang="en-US" altLang="zh-CN"/>
              <a:t>activity</a:t>
            </a:r>
            <a:r>
              <a:rPr lang="zh-CN" altLang="en-US"/>
              <a:t>、</a:t>
            </a:r>
            <a:r>
              <a:rPr lang="en-US" altLang="zh-CN"/>
              <a:t>stars</a:t>
            </a:r>
            <a:r>
              <a:rPr lang="zh-CN" altLang="en-US"/>
              <a:t>、</a:t>
            </a:r>
            <a:r>
              <a:rPr lang="en-US" altLang="zh-CN"/>
              <a:t>attention</a:t>
            </a:r>
            <a:r>
              <a:rPr lang="zh-CN" altLang="en-US"/>
              <a:t>、</a:t>
            </a:r>
            <a:r>
              <a:rPr lang="en-US" altLang="zh-CN"/>
              <a:t>participants</a:t>
            </a:r>
            <a:r>
              <a:rPr lang="zh-CN" altLang="en-US"/>
              <a:t>、</a:t>
            </a:r>
            <a:r>
              <a:rPr lang="en-US" altLang="zh-CN"/>
              <a:t>contributors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 b="1"/>
              <a:t>预测的范围</a:t>
            </a:r>
            <a:r>
              <a:rPr lang="zh-CN" altLang="en-US"/>
              <a:t>：</a:t>
            </a:r>
            <a:r>
              <a:rPr lang="en-US" altLang="zh-CN"/>
              <a:t>openrank</a:t>
            </a:r>
            <a:r>
              <a:rPr lang="zh-CN" altLang="en-US"/>
              <a:t>、</a:t>
            </a:r>
            <a:r>
              <a:rPr lang="en-US" altLang="zh-CN"/>
              <a:t>stars</a:t>
            </a:r>
            <a:r>
              <a:rPr lang="zh-CN" altLang="en-US"/>
              <a:t>、</a:t>
            </a:r>
            <a:r>
              <a:rPr lang="en-US" altLang="zh-CN"/>
              <a:t>attention</a:t>
            </a:r>
            <a:r>
              <a:rPr lang="zh-CN" altLang="en-US"/>
              <a:t>指标未来</a:t>
            </a:r>
            <a:r>
              <a:rPr lang="en-US" altLang="zh-CN"/>
              <a:t>6</a:t>
            </a:r>
            <a:r>
              <a:rPr lang="zh-CN" altLang="en-US"/>
              <a:t>个月的变化趋势。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546350"/>
            <a:ext cx="11002645" cy="29108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2237105" cy="4699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数据分析预测</a:t>
            </a:r>
            <a:endParaRPr lang="zh-CN" altLang="en-US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2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986155"/>
            <a:ext cx="5960745" cy="59302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8965" y="1364615"/>
            <a:ext cx="5429250" cy="461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/>
              <a:t>以</a:t>
            </a:r>
            <a:r>
              <a:rPr lang="en-US" altLang="zh-CN" sz="1600"/>
              <a:t>Java</a:t>
            </a:r>
            <a:r>
              <a:rPr lang="zh-CN" altLang="en-US" sz="1600"/>
              <a:t>作演示项目输出的</a:t>
            </a:r>
            <a:r>
              <a:rPr lang="zh-CN" altLang="en-US" sz="1600" b="1"/>
              <a:t>图表（下）</a:t>
            </a:r>
            <a:r>
              <a:rPr lang="zh-CN" altLang="en-US" sz="1600"/>
              <a:t>、</a:t>
            </a:r>
            <a:r>
              <a:rPr lang="zh-CN" altLang="en-US" sz="1600" b="1"/>
              <a:t>文字报告（右）</a:t>
            </a:r>
            <a:r>
              <a:rPr lang="zh-CN" altLang="en-US" sz="1600"/>
              <a:t>：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68" y="1826259"/>
            <a:ext cx="5699434" cy="476850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609600" y="1527810"/>
            <a:ext cx="2851150" cy="4798695"/>
          </a:xfrm>
        </p:spPr>
        <p:txBody>
          <a:bodyPr>
            <a:normAutofit/>
          </a:bodyPr>
          <a:lstStyle/>
          <a:p>
            <a:pPr indent="457200" algn="l"/>
            <a:r>
              <a:rPr lang="zh-CN" altLang="en-US" dirty="0"/>
              <a:t>在</a:t>
            </a:r>
            <a:r>
              <a:rPr lang="zh-CN" altLang="en-US" b="1" dirty="0"/>
              <a:t>数据分析</a:t>
            </a:r>
            <a:r>
              <a:rPr lang="zh-CN" altLang="en-US" dirty="0"/>
              <a:t>功能的基础上，</a:t>
            </a:r>
            <a:r>
              <a:rPr lang="en-US" altLang="zh-CN" b="1" dirty="0"/>
              <a:t>GitHub</a:t>
            </a:r>
            <a:r>
              <a:rPr lang="zh-CN" altLang="en-US" b="1" dirty="0"/>
              <a:t>项目深度分析器</a:t>
            </a:r>
            <a:r>
              <a:rPr lang="zh-CN" altLang="en-US" dirty="0"/>
              <a:t>允许你传入</a:t>
            </a:r>
            <a:r>
              <a:rPr lang="zh-CN" altLang="en-US" b="1" dirty="0"/>
              <a:t>两个的</a:t>
            </a:r>
            <a:r>
              <a:rPr lang="en-US" altLang="zh-CN" b="1" dirty="0" err="1"/>
              <a:t>Github</a:t>
            </a:r>
            <a:r>
              <a:rPr lang="zh-CN" altLang="en-US" b="1" dirty="0"/>
              <a:t>仓库地址</a:t>
            </a:r>
            <a:r>
              <a:rPr lang="zh-CN" altLang="en-US" dirty="0"/>
              <a:t>，根据你的输入自动获取对应仓库的各项指标数据，对其进行评估分析后将其与其它项目的各项指标进行对比，最终将结果以</a:t>
            </a:r>
            <a:r>
              <a:rPr lang="zh-CN" altLang="en-US" b="1" dirty="0"/>
              <a:t>图表</a:t>
            </a:r>
            <a:r>
              <a:rPr lang="zh-CN" altLang="en-US" dirty="0"/>
              <a:t>、</a:t>
            </a:r>
            <a:r>
              <a:rPr lang="zh-CN" altLang="en-US" b="1" dirty="0"/>
              <a:t>文字报告</a:t>
            </a:r>
            <a:r>
              <a:rPr lang="zh-CN" altLang="en-US" dirty="0"/>
              <a:t>等格式输出。</a:t>
            </a:r>
            <a:endParaRPr lang="zh-CN" altLang="en-US" dirty="0"/>
          </a:p>
          <a:p>
            <a:pPr indent="457200" algn="l"/>
            <a:r>
              <a:rPr lang="zh-CN" altLang="en-US" dirty="0"/>
              <a:t>右侧为</a:t>
            </a:r>
            <a:r>
              <a:rPr lang="en-US" altLang="zh-CN" dirty="0"/>
              <a:t>Java</a:t>
            </a:r>
            <a:r>
              <a:rPr lang="zh-CN" altLang="en-US" dirty="0"/>
              <a:t>与</a:t>
            </a:r>
            <a:r>
              <a:rPr lang="en-US" altLang="zh-CN" dirty="0"/>
              <a:t>Python</a:t>
            </a:r>
            <a:r>
              <a:rPr lang="zh-CN" altLang="en-US" dirty="0"/>
              <a:t>两个</a:t>
            </a:r>
            <a:r>
              <a:rPr lang="en-US" altLang="zh-CN" dirty="0" err="1"/>
              <a:t>Github</a:t>
            </a:r>
            <a:r>
              <a:rPr lang="zh-CN" altLang="en-US" dirty="0"/>
              <a:t>项目的对比情况：</a:t>
            </a:r>
            <a:endParaRPr lang="zh-CN" altLang="en-US" dirty="0"/>
          </a:p>
        </p:txBody>
      </p:sp>
      <p:sp>
        <p:nvSpPr>
          <p:cNvPr id="4" name="标题 1" descr="c49c46fa-a821-477e-9d76-2f926304a18b"/>
          <p:cNvSpPr>
            <a:spLocks noGrp="1"/>
          </p:cNvSpPr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两</a:t>
            </a:r>
            <a:r>
              <a:rPr lang="en-US" sz="2800" b="1" i="0" u="none" dirty="0" err="1">
                <a:solidFill>
                  <a:srgbClr val="000000"/>
                </a:solidFill>
                <a:ea typeface="微软雅黑" panose="020B0503020204020204" charset="-122"/>
              </a:rPr>
              <a:t>个项目对比</a:t>
            </a:r>
            <a:endParaRPr lang="en-US" sz="2800" b="1" i="0" u="none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2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258" y="1320801"/>
            <a:ext cx="7448000" cy="509847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609600" y="1527810"/>
            <a:ext cx="2512291" cy="4798695"/>
          </a:xfrm>
        </p:spPr>
        <p:txBody>
          <a:bodyPr>
            <a:normAutofit/>
          </a:bodyPr>
          <a:lstStyle/>
          <a:p>
            <a:pPr indent="457200" algn="l"/>
            <a:r>
              <a:rPr lang="en-US" altLang="zh-CN" b="1" dirty="0"/>
              <a:t>GitHub</a:t>
            </a:r>
            <a:r>
              <a:rPr lang="zh-CN" altLang="en-US" b="1" dirty="0"/>
              <a:t>项目深度分析器还</a:t>
            </a:r>
            <a:r>
              <a:rPr lang="zh-CN" altLang="en-US" dirty="0"/>
              <a:t>允许你传入</a:t>
            </a:r>
            <a:r>
              <a:rPr lang="zh-CN" altLang="en-US" b="1" dirty="0"/>
              <a:t>三个及以上的</a:t>
            </a:r>
            <a:r>
              <a:rPr lang="en-US" altLang="zh-CN" b="1" dirty="0" err="1"/>
              <a:t>Github</a:t>
            </a:r>
            <a:r>
              <a:rPr lang="zh-CN" altLang="en-US" b="1" dirty="0"/>
              <a:t>仓库地址</a:t>
            </a:r>
            <a:r>
              <a:rPr lang="zh-CN" altLang="en-US" dirty="0"/>
              <a:t>，对</a:t>
            </a:r>
            <a:r>
              <a:rPr lang="en-US" altLang="zh-CN" dirty="0" err="1"/>
              <a:t>opendigger</a:t>
            </a:r>
            <a:r>
              <a:rPr lang="zh-CN" altLang="en-US" dirty="0"/>
              <a:t>数据进行分析，得到各项指标下各个项目的排名以及综合评估，最终将结果以多种</a:t>
            </a:r>
            <a:r>
              <a:rPr lang="zh-CN" altLang="en-US" b="1" dirty="0"/>
              <a:t>图表</a:t>
            </a:r>
            <a:r>
              <a:rPr lang="zh-CN" altLang="en-US" dirty="0"/>
              <a:t>、</a:t>
            </a:r>
            <a:r>
              <a:rPr lang="zh-CN" altLang="en-US" b="1" dirty="0"/>
              <a:t>文字报告</a:t>
            </a:r>
            <a:r>
              <a:rPr lang="zh-CN" altLang="en-US" dirty="0"/>
              <a:t>等格式输出。</a:t>
            </a:r>
            <a:endParaRPr lang="en-US" altLang="zh-CN" dirty="0"/>
          </a:p>
          <a:p>
            <a:pPr indent="457200" algn="l"/>
            <a:r>
              <a:rPr lang="zh-CN" altLang="en-US" dirty="0"/>
              <a:t>右侧为</a:t>
            </a:r>
            <a:r>
              <a:rPr lang="en-US" altLang="zh-CN" dirty="0" err="1"/>
              <a:t>facebook</a:t>
            </a:r>
            <a:r>
              <a:rPr lang="en-US" altLang="zh-CN" dirty="0"/>
              <a:t>/react</a:t>
            </a:r>
            <a:r>
              <a:rPr lang="zh-CN" altLang="en-US" dirty="0"/>
              <a:t>，</a:t>
            </a:r>
            <a:r>
              <a:rPr lang="en-US" altLang="zh-CN" dirty="0" err="1"/>
              <a:t>vuejs</a:t>
            </a:r>
            <a:r>
              <a:rPr lang="en-US" altLang="zh-CN" dirty="0"/>
              <a:t>/</a:t>
            </a:r>
            <a:r>
              <a:rPr lang="en-US" altLang="zh-CN" dirty="0" err="1"/>
              <a:t>vue</a:t>
            </a:r>
            <a:r>
              <a:rPr lang="zh-CN" altLang="en-US" dirty="0"/>
              <a:t>，</a:t>
            </a:r>
            <a:r>
              <a:rPr lang="en-US" altLang="zh-CN" dirty="0"/>
              <a:t>angular/angular</a:t>
            </a:r>
            <a:r>
              <a:rPr lang="zh-CN" altLang="en-US" dirty="0"/>
              <a:t>，</a:t>
            </a:r>
            <a:r>
              <a:rPr lang="en-US" altLang="zh-CN" dirty="0" err="1"/>
              <a:t>tensorflow</a:t>
            </a:r>
            <a:r>
              <a:rPr lang="en-US" altLang="zh-CN" dirty="0"/>
              <a:t>/</a:t>
            </a:r>
            <a:r>
              <a:rPr lang="en-US" altLang="zh-CN" dirty="0" err="1"/>
              <a:t>tensorflow</a:t>
            </a:r>
            <a:r>
              <a:rPr lang="zh-CN" altLang="en-US" dirty="0"/>
              <a:t>，</a:t>
            </a:r>
            <a:r>
              <a:rPr lang="en-US" altLang="zh-CN" dirty="0" err="1"/>
              <a:t>pytorch</a:t>
            </a:r>
            <a:r>
              <a:rPr lang="en-US" altLang="zh-CN" dirty="0"/>
              <a:t>/</a:t>
            </a:r>
            <a:r>
              <a:rPr lang="en-US" altLang="zh-CN" dirty="0" err="1"/>
              <a:t>pytorchmicrosoft</a:t>
            </a:r>
            <a:r>
              <a:rPr lang="en-US" altLang="zh-CN" dirty="0"/>
              <a:t>/</a:t>
            </a:r>
            <a:r>
              <a:rPr lang="en-US" altLang="zh-CN" dirty="0" err="1"/>
              <a:t>onnxruntime</a:t>
            </a:r>
            <a:r>
              <a:rPr lang="zh-CN" altLang="en-US" dirty="0"/>
              <a:t>六个</a:t>
            </a:r>
            <a:r>
              <a:rPr lang="en-US" altLang="zh-CN" dirty="0" err="1"/>
              <a:t>Github</a:t>
            </a:r>
            <a:r>
              <a:rPr lang="zh-CN" altLang="en-US" dirty="0"/>
              <a:t>项目的</a:t>
            </a:r>
            <a:r>
              <a:rPr lang="en-US" altLang="zh-CN" dirty="0" err="1"/>
              <a:t>openrank</a:t>
            </a:r>
            <a:r>
              <a:rPr lang="zh-CN" altLang="en-US" dirty="0"/>
              <a:t>值对比情况：</a:t>
            </a:r>
            <a:endParaRPr lang="zh-CN" altLang="en-US" dirty="0"/>
          </a:p>
          <a:p>
            <a:pPr indent="457200" algn="l"/>
            <a:endParaRPr lang="zh-CN" altLang="en-US" dirty="0"/>
          </a:p>
        </p:txBody>
      </p:sp>
      <p:sp>
        <p:nvSpPr>
          <p:cNvPr id="4" name="标题 1" descr="c49c46fa-a821-477e-9d76-2f926304a18b"/>
          <p:cNvSpPr>
            <a:spLocks noGrp="1"/>
          </p:cNvSpPr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000000"/>
                </a:solidFill>
                <a:ea typeface="微软雅黑" panose="020B0503020204020204" charset="-122"/>
              </a:rPr>
              <a:t>多个项目对比</a:t>
            </a:r>
            <a:endParaRPr lang="en-US" sz="2800" b="1" i="0" u="none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2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pic>
        <p:nvPicPr>
          <p:cNvPr id="5" name="图片 4" descr="图表, 折线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481" y="1486612"/>
            <a:ext cx="8375919" cy="430476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23944f6-3728-4498-b501-8c55ea91429b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操作说明</a:t>
            </a:r>
            <a:endParaRPr lang="zh-CN" altLang="en-US" sz="5400">
              <a:solidFill>
                <a:srgbClr val="000000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占位符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80"/>
            <a:ext cx="5435600" cy="776605"/>
          </a:xfrm>
        </p:spPr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一键启动，两键关机</a:t>
            </a:r>
            <a:endParaRPr lang="zh-CN" altLang="en-US" sz="2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3378199" y="378950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246505"/>
            <a:ext cx="4629785" cy="835660"/>
          </a:xfrm>
        </p:spPr>
        <p:txBody>
          <a:bodyPr>
            <a:normAutofit fontScale="80000" lnSpcReduction="10000"/>
          </a:bodyPr>
          <a:lstStyle/>
          <a:p>
            <a:pPr indent="457200"/>
            <a:r>
              <a:rPr lang="en-US" altLang="zh-CN" sz="2000" b="1"/>
              <a:t>GitHub</a:t>
            </a:r>
            <a:r>
              <a:rPr lang="zh-CN" altLang="en-US" sz="2000" b="1"/>
              <a:t>项目深度分析器</a:t>
            </a:r>
            <a:r>
              <a:rPr lang="zh-CN" altLang="en-US" sz="2000"/>
              <a:t>允许您直接使用</a:t>
            </a:r>
            <a:r>
              <a:rPr lang="en-US" altLang="zh-CN" sz="2000" b="1"/>
              <a:t>Web</a:t>
            </a:r>
            <a:r>
              <a:rPr lang="zh-CN" altLang="en-US" sz="2000" b="1"/>
              <a:t>界面</a:t>
            </a:r>
            <a:r>
              <a:rPr lang="zh-CN" altLang="en-US" sz="2000"/>
              <a:t>进行操作，或直接</a:t>
            </a:r>
            <a:r>
              <a:rPr lang="zh-CN" altLang="en-US" sz="2000" b="1"/>
              <a:t>运行</a:t>
            </a:r>
            <a:r>
              <a:rPr lang="en-US" altLang="zh-CN" sz="2000" b="1"/>
              <a:t>python</a:t>
            </a:r>
            <a:r>
              <a:rPr lang="zh-CN" altLang="en-US" sz="2000" b="1"/>
              <a:t>脚本</a:t>
            </a:r>
            <a:r>
              <a:rPr lang="zh-CN" altLang="en-US" sz="2000"/>
              <a:t>进行分析。</a:t>
            </a:r>
            <a:endParaRPr lang="zh-CN" altLang="en-US" sz="2000"/>
          </a:p>
        </p:txBody>
      </p:sp>
      <p:sp>
        <p:nvSpPr>
          <p:cNvPr id="4" name="装饰  7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>
          <a:xfrm>
            <a:off x="609600" y="1899285"/>
            <a:ext cx="5403850" cy="2447925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818515" y="2371725"/>
            <a:ext cx="4928870" cy="192024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 lnSpcReduction="10000"/>
          </a:bodyPr>
          <a:lstStyle/>
          <a:p>
            <a:r>
              <a:rPr lang="en-US" altLang="zh-CN"/>
              <a:t>1. </a:t>
            </a:r>
            <a:r>
              <a:rPr lang="zh-CN" altLang="en-US"/>
              <a:t>双击或在终端执行</a:t>
            </a:r>
            <a:r>
              <a:rPr lang="en-US" altLang="zh-CN"/>
              <a:t> </a:t>
            </a:r>
            <a:r>
              <a:rPr lang="en-US" altLang="zh-CN" b="1"/>
              <a:t>run.bat</a:t>
            </a:r>
            <a:r>
              <a:rPr lang="en-US" altLang="zh-CN"/>
              <a:t> </a:t>
            </a:r>
            <a:r>
              <a:rPr lang="zh-CN" altLang="en-US"/>
              <a:t>文件，启动后端服务器。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打开浏览器，访问</a:t>
            </a:r>
            <a:r>
              <a:rPr lang="en-US" altLang="zh-CN"/>
              <a:t> </a:t>
            </a:r>
            <a:r>
              <a:rPr lang="en-US" altLang="zh-CN" b="1"/>
              <a:t>http://localhost:5501</a:t>
            </a:r>
            <a:r>
              <a:rPr lang="en-US" altLang="zh-CN"/>
              <a:t> </a:t>
            </a:r>
            <a:r>
              <a:rPr lang="zh-CN" altLang="en-US"/>
              <a:t>进入前端界面。</a:t>
            </a:r>
            <a:endParaRPr lang="zh-CN" altLang="en-US"/>
          </a:p>
          <a:p>
            <a:r>
              <a:rPr lang="zh-CN" altLang="en-US" sz="1335"/>
              <a:t>（这一步会随着</a:t>
            </a:r>
            <a:r>
              <a:rPr lang="en-US" altLang="zh-CN" sz="1335"/>
              <a:t> </a:t>
            </a:r>
            <a:r>
              <a:rPr lang="en-US" altLang="zh-CN" sz="1335" b="1"/>
              <a:t>run.bat</a:t>
            </a:r>
            <a:r>
              <a:rPr lang="en-US" altLang="zh-CN" sz="1335"/>
              <a:t> </a:t>
            </a:r>
            <a:r>
              <a:rPr lang="zh-CN" altLang="en-US" sz="1335"/>
              <a:t>的运行自动完成）</a:t>
            </a:r>
            <a:endParaRPr lang="zh-CN" altLang="en-US" sz="1335"/>
          </a:p>
          <a:p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在前端界面选择需要的操作即可。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关闭时，关闭终端和网站即可。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609600" y="4484370"/>
            <a:ext cx="5404485" cy="215773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818515" y="4600575"/>
            <a:ext cx="1856740" cy="23622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CN" sz="1500"/>
              <a:t>Python</a:t>
            </a:r>
            <a:r>
              <a:rPr lang="zh-CN" altLang="en-US" sz="1500"/>
              <a:t>脚本操作</a:t>
            </a:r>
            <a:endParaRPr lang="zh-CN" altLang="en-US" sz="15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818515" y="4925695"/>
            <a:ext cx="4930140" cy="160401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zh-CN"/>
              <a:t>1. </a:t>
            </a:r>
            <a:r>
              <a:rPr lang="zh-CN" altLang="en-US"/>
              <a:t>确保已安装</a:t>
            </a:r>
            <a:r>
              <a:rPr lang="en-US" altLang="zh-CN"/>
              <a:t>Python 3.11</a:t>
            </a:r>
            <a:r>
              <a:rPr lang="zh-CN" altLang="en-US"/>
              <a:t>及以上版本，并安装所需依赖。</a:t>
            </a:r>
            <a:endParaRPr lang="zh-CN" altLang="en-US"/>
          </a:p>
          <a:p>
            <a:r>
              <a:rPr lang="zh-CN" altLang="en-US" sz="1335"/>
              <a:t>（可通过命令行</a:t>
            </a:r>
            <a:r>
              <a:rPr lang="en-US" altLang="zh-CN" sz="1335"/>
              <a:t> `pip install -r ./python/scripts/requirements.txt` </a:t>
            </a:r>
            <a:r>
              <a:rPr lang="zh-CN" altLang="en-US" sz="1335"/>
              <a:t>安装）</a:t>
            </a:r>
            <a:endParaRPr lang="zh-CN" altLang="en-US" sz="1335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在命令行中导航到</a:t>
            </a:r>
            <a:r>
              <a:rPr lang="en-US" altLang="zh-CN"/>
              <a:t> ./python/ </a:t>
            </a:r>
            <a:r>
              <a:rPr lang="zh-CN" altLang="en-US"/>
              <a:t>目录。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运行命令进行单个项目分析：</a:t>
            </a:r>
            <a:r>
              <a:rPr lang="en-US" altLang="zh-CN"/>
              <a:t>python v4.py</a:t>
            </a:r>
            <a:endParaRPr lang="zh-CN" altLang="en-US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8"/>
            </p:custDataLst>
          </p:nvPr>
        </p:nvSpPr>
        <p:spPr>
          <a:xfrm>
            <a:off x="609600" y="533400"/>
            <a:ext cx="2019300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操作说明</a:t>
            </a:r>
            <a:endParaRPr lang="zh-CN" altLang="en-US" sz="28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>
          <a:xfrm>
            <a:off x="818515" y="2002790"/>
            <a:ext cx="1856105" cy="33083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altLang="zh-CN" sz="1780"/>
              <a:t>Web</a:t>
            </a:r>
            <a:r>
              <a:rPr lang="zh-CN" altLang="en-US" sz="1780"/>
              <a:t>界面操作</a:t>
            </a:r>
            <a:endParaRPr lang="zh-CN" altLang="en-US" sz="178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9180" y="937260"/>
            <a:ext cx="5775325" cy="556958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23944f6-3728-4498-b501-8c55ea91429b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分析过程</a:t>
            </a:r>
            <a:endParaRPr lang="en-US" sz="54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80"/>
            <a:ext cx="5435600" cy="1032510"/>
          </a:xfrm>
        </p:spPr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分层、预测、评估</a:t>
            </a:r>
            <a:endParaRPr lang="zh-CN" altLang="en-US" sz="2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3378199" y="378950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1584960" cy="609600"/>
          </a:xfrm>
        </p:spPr>
        <p:txBody>
          <a:bodyPr/>
          <a:lstStyle/>
          <a:p>
            <a:r>
              <a:rPr lang="zh-CN" altLang="en-US" sz="2800" b="1"/>
              <a:t>分析过程</a:t>
            </a:r>
            <a:endParaRPr lang="zh-CN" altLang="en-US" sz="2800" b="1"/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2082800" y="1955800"/>
            <a:ext cx="9194800" cy="735330"/>
          </a:xfrm>
        </p:spPr>
        <p:txBody>
          <a:bodyPr>
            <a:noAutofit/>
          </a:bodyPr>
          <a:lstStyle/>
          <a:p>
            <a:r>
              <a:rPr lang="zh-CN" altLang="en-US" sz="2000" b="1"/>
              <a:t>项目分层</a:t>
            </a:r>
            <a:r>
              <a:rPr lang="zh-CN" altLang="en-US"/>
              <a:t>：基于平均</a:t>
            </a:r>
            <a:r>
              <a:rPr lang="en-US" altLang="zh-CN" b="1"/>
              <a:t>OpenRank</a:t>
            </a:r>
            <a:r>
              <a:rPr lang="zh-CN" altLang="en-US" b="1"/>
              <a:t>、总</a:t>
            </a:r>
            <a:r>
              <a:rPr lang="en-US" altLang="zh-CN" b="1"/>
              <a:t>Stars</a:t>
            </a:r>
            <a:r>
              <a:rPr lang="zh-CN" altLang="en-US" b="1"/>
              <a:t>数、最大贡献者数</a:t>
            </a:r>
            <a:r>
              <a:rPr lang="zh-CN" altLang="en-US"/>
              <a:t>三个指标，使用</a:t>
            </a:r>
            <a:r>
              <a:rPr lang="en-US" altLang="zh-CN" b="1"/>
              <a:t>GMM</a:t>
            </a:r>
            <a:r>
              <a:rPr lang="zh-CN" altLang="en-US" b="1"/>
              <a:t>模型</a:t>
            </a:r>
            <a:r>
              <a:rPr lang="zh-CN" altLang="en-US"/>
              <a:t>进行概率化分层，将项目分为</a:t>
            </a:r>
            <a:r>
              <a:rPr lang="en-US" altLang="zh-CN" b="1"/>
              <a:t>GIANT</a:t>
            </a:r>
            <a:r>
              <a:rPr lang="zh-CN" altLang="en-US" b="1"/>
              <a:t>、</a:t>
            </a:r>
            <a:r>
              <a:rPr lang="en-US" altLang="zh-CN" b="1"/>
              <a:t>MATURE</a:t>
            </a:r>
            <a:r>
              <a:rPr lang="zh-CN" altLang="en-US" b="1"/>
              <a:t>、</a:t>
            </a:r>
            <a:r>
              <a:rPr lang="en-US" altLang="zh-CN" b="1"/>
              <a:t>GROWING</a:t>
            </a:r>
            <a:r>
              <a:rPr lang="zh-CN" altLang="en-US" b="1"/>
              <a:t>、</a:t>
            </a:r>
            <a:r>
              <a:rPr lang="en-US" altLang="zh-CN" b="1"/>
              <a:t>EMERGING</a:t>
            </a:r>
            <a:r>
              <a:rPr lang="zh-CN" altLang="en-US"/>
              <a:t>四个层级，从而提供更准确的项目画像。</a:t>
            </a:r>
            <a:endParaRPr lang="zh-CN" altLang="en-US"/>
          </a:p>
        </p:txBody>
      </p:sp>
      <p:sp>
        <p:nvSpPr>
          <p:cNvPr id="6" name="装饰  9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趋势预测</a:t>
            </a:r>
            <a:r>
              <a:rPr lang="zh-CN" altLang="en-US" dirty="0"/>
              <a:t>：基于简化版</a:t>
            </a:r>
            <a:r>
              <a:rPr lang="en-US" altLang="zh-CN" b="1" dirty="0"/>
              <a:t>Prophet</a:t>
            </a:r>
            <a:r>
              <a:rPr lang="zh-CN" altLang="en-US" b="1" dirty="0"/>
              <a:t>算法和</a:t>
            </a:r>
            <a:r>
              <a:rPr lang="en-US" altLang="zh-CN" b="1" dirty="0"/>
              <a:t>Facebook Prophet</a:t>
            </a:r>
            <a:r>
              <a:rPr lang="zh-CN" altLang="en-US" dirty="0"/>
              <a:t>，结合多种预测方法的</a:t>
            </a:r>
            <a:r>
              <a:rPr lang="zh-CN" altLang="en-US" b="1" dirty="0"/>
              <a:t>加权组合</a:t>
            </a:r>
            <a:r>
              <a:rPr lang="zh-CN" altLang="en-US" dirty="0"/>
              <a:t>对项目进行预测，提供</a:t>
            </a:r>
            <a:r>
              <a:rPr lang="en-US" altLang="zh-CN" b="1" dirty="0"/>
              <a:t>6</a:t>
            </a:r>
            <a:r>
              <a:rPr lang="zh-CN" altLang="en-US" b="1" dirty="0"/>
              <a:t>个月</a:t>
            </a:r>
            <a:r>
              <a:rPr lang="zh-CN" altLang="en-US" dirty="0"/>
              <a:t>的趋势预测和置信区间。</a:t>
            </a:r>
            <a:endParaRPr lang="zh-CN" altLang="en-US" dirty="0"/>
          </a:p>
        </p:txBody>
      </p:sp>
      <p:sp>
        <p:nvSpPr>
          <p:cNvPr id="9" name="装饰  2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健康评估</a:t>
            </a:r>
            <a:r>
              <a:rPr lang="zh-CN" altLang="en-US" dirty="0"/>
              <a:t>：使用</a:t>
            </a:r>
            <a:r>
              <a:rPr lang="en-US" altLang="zh-CN" b="1" dirty="0"/>
              <a:t>AHP</a:t>
            </a:r>
            <a:r>
              <a:rPr lang="zh-CN" altLang="en-US" b="1" dirty="0"/>
              <a:t>层次分析法</a:t>
            </a:r>
            <a:r>
              <a:rPr lang="zh-CN" altLang="en-US" dirty="0"/>
              <a:t>，从</a:t>
            </a:r>
            <a:r>
              <a:rPr lang="zh-CN" altLang="en-US" b="1" dirty="0"/>
              <a:t>动量、稳定性、潜力、安全性</a:t>
            </a:r>
            <a:r>
              <a:rPr lang="en-US" altLang="zh-CN" dirty="0"/>
              <a:t>4</a:t>
            </a:r>
            <a:r>
              <a:rPr lang="zh-CN" altLang="en-US" dirty="0"/>
              <a:t>个维度进行分析，并根据项目层级</a:t>
            </a:r>
            <a:r>
              <a:rPr lang="zh-CN" altLang="en-US" b="1" dirty="0"/>
              <a:t>动态调整权重</a:t>
            </a:r>
            <a:r>
              <a:rPr lang="zh-CN" altLang="en-US" dirty="0"/>
              <a:t>，提供更精准的健康评分。</a:t>
            </a:r>
            <a:endParaRPr lang="zh-CN" altLang="en-US" dirty="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1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  <p:custDataLst>
      <p:tags r:id="rId12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6387"/>
            <p:custDataLst>
              <p:tags r:id="rId1"/>
            </p:custDataLst>
          </p:nvPr>
        </p:nvGraphicFramePr>
        <p:xfrm>
          <a:off x="6096000" y="1276350"/>
          <a:ext cx="5293360" cy="489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395"/>
                <a:gridCol w="1259840"/>
                <a:gridCol w="2524125"/>
              </a:tblGrid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基准值</a:t>
                      </a:r>
                      <a:endParaRPr lang="zh-CN" altLang="en-US"/>
                    </a:p>
                  </a:txBody>
                  <a:tcPr/>
                </a:tc>
              </a:tr>
              <a:tr h="1056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GIANT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巨型项目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OpenRank≥80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Stars≥50000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参与者</a:t>
                      </a:r>
                      <a:r>
                        <a:rPr lang="en-US" altLang="zh-CN"/>
                        <a:t>≥500</a:t>
                      </a:r>
                      <a:endParaRPr lang="en-US" altLang="zh-CN"/>
                    </a:p>
                  </a:txBody>
                  <a:tcPr/>
                </a:tc>
              </a:tr>
              <a:tr h="1057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MATURE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成熟项目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OpenRank≥25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Stars≥5000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参与者</a:t>
                      </a:r>
                      <a:r>
                        <a:rPr lang="en-US" altLang="zh-CN"/>
                        <a:t>≥100</a:t>
                      </a:r>
                      <a:endParaRPr lang="en-US" altLang="zh-CN"/>
                    </a:p>
                  </a:txBody>
                  <a:tcPr/>
                </a:tc>
              </a:tr>
              <a:tr h="105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GROWING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成长项目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OpenRank≥8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Stars≥1000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参与者</a:t>
                      </a:r>
                      <a:r>
                        <a:rPr lang="en-US" altLang="zh-CN"/>
                        <a:t>≥30</a:t>
                      </a:r>
                      <a:endParaRPr lang="en-US" altLang="zh-CN"/>
                    </a:p>
                  </a:txBody>
                  <a:tcPr/>
                </a:tc>
              </a:tr>
              <a:tr h="105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EMERGING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新兴项目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OpenRank≥2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Stars≥100</a:t>
                      </a:r>
                      <a:r>
                        <a:rPr lang="zh-CN" altLang="en-US"/>
                        <a:t>，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参与者</a:t>
                      </a:r>
                      <a:r>
                        <a:rPr lang="en-US" altLang="zh-CN"/>
                        <a:t>≥5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533400"/>
            <a:ext cx="4620260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项目分层</a:t>
            </a:r>
            <a:r>
              <a:rPr lang="en-US" altLang="zh-CN" sz="2800" b="1"/>
              <a:t> - </a:t>
            </a:r>
            <a:r>
              <a:rPr lang="zh-CN" altLang="en-US" sz="2800" b="1"/>
              <a:t>指标与层级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3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7" name="装饰 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3053715"/>
            <a:ext cx="5213985" cy="2585085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1524000"/>
            <a:ext cx="5213350" cy="4403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/>
            <a:r>
              <a:rPr lang="zh-CN" altLang="en-US"/>
              <a:t>分层模型采用</a:t>
            </a:r>
            <a:r>
              <a:rPr lang="zh-CN" altLang="en-US" b="1"/>
              <a:t>高斯混合模型（</a:t>
            </a:r>
            <a:r>
              <a:rPr lang="en-US" altLang="zh-CN" b="1"/>
              <a:t>GMM</a:t>
            </a:r>
            <a:r>
              <a:rPr lang="zh-CN" altLang="en-US" b="1"/>
              <a:t>）</a:t>
            </a:r>
            <a:r>
              <a:rPr lang="zh-CN" altLang="en-US"/>
              <a:t>，通过对项目的历史数据进行聚类分析，将项目划分为不同的层级类别。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GMM</a:t>
            </a:r>
            <a:r>
              <a:rPr lang="zh-CN" altLang="en-US"/>
              <a:t>分层基于以下</a:t>
            </a:r>
            <a:r>
              <a:rPr lang="zh-CN" altLang="en-US" b="1"/>
              <a:t>三个指标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平均</a:t>
            </a:r>
            <a:r>
              <a:rPr lang="en-US" altLang="zh-CN" b="1"/>
              <a:t>OpenRank</a:t>
            </a:r>
            <a:r>
              <a:rPr lang="zh-CN" altLang="en-US"/>
              <a:t>：</a:t>
            </a:r>
            <a:endParaRPr lang="zh-CN" altLang="en-US"/>
          </a:p>
          <a:p>
            <a:pPr indent="457200"/>
            <a:r>
              <a:rPr lang="zh-CN" altLang="en-US"/>
              <a:t>项目在分析期间的平均</a:t>
            </a:r>
            <a:r>
              <a:rPr lang="en-US" altLang="zh-CN"/>
              <a:t>OpenRank</a:t>
            </a:r>
            <a:r>
              <a:rPr lang="zh-CN" altLang="en-US"/>
              <a:t>值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总</a:t>
            </a:r>
            <a:r>
              <a:rPr lang="en-US" altLang="zh-CN" b="1"/>
              <a:t>Stars</a:t>
            </a:r>
            <a:r>
              <a:rPr lang="zh-CN" altLang="en-US" b="1"/>
              <a:t>数</a:t>
            </a:r>
            <a:r>
              <a:rPr lang="zh-CN" altLang="en-US"/>
              <a:t>：</a:t>
            </a:r>
            <a:endParaRPr lang="zh-CN" altLang="en-US"/>
          </a:p>
          <a:p>
            <a:pPr indent="457200"/>
            <a:r>
              <a:rPr lang="zh-CN" altLang="en-US"/>
              <a:t>项目获得的总</a:t>
            </a:r>
            <a:r>
              <a:rPr lang="en-US" altLang="zh-CN"/>
              <a:t>Stars</a:t>
            </a:r>
            <a:r>
              <a:rPr lang="zh-CN" altLang="en-US"/>
              <a:t>数量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最大贡献者数</a:t>
            </a:r>
            <a:r>
              <a:rPr lang="zh-CN" altLang="en-US"/>
              <a:t>：</a:t>
            </a:r>
            <a:endParaRPr lang="zh-CN" altLang="en-US"/>
          </a:p>
          <a:p>
            <a:pPr indent="457200"/>
            <a:r>
              <a:rPr lang="zh-CN" altLang="en-US"/>
              <a:t>项目在分析期间的最大贡献者数量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1"/>
            </p:custDataLst>
          </p:nvPr>
        </p:nvSpPr>
        <p:spPr>
          <a:xfrm>
            <a:off x="516255" y="2315845"/>
            <a:ext cx="5334000" cy="152400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>
          <a:xfrm>
            <a:off x="933450" y="2692400"/>
            <a:ext cx="876300" cy="736600"/>
          </a:xfrm>
        </p:spPr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1970405" y="2474134"/>
            <a:ext cx="3780790" cy="11815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数据准备 ：收集项目的平均</a:t>
            </a:r>
            <a:r>
              <a:rPr lang="en-US" altLang="zh-CN" sz="2000" dirty="0" err="1"/>
              <a:t>OpenRank</a:t>
            </a:r>
            <a:r>
              <a:rPr lang="zh-CN" altLang="en-US" sz="2000" dirty="0"/>
              <a:t>、总</a:t>
            </a:r>
            <a:r>
              <a:rPr lang="en-US" altLang="zh-CN" sz="2000" dirty="0"/>
              <a:t>Stars</a:t>
            </a:r>
            <a:r>
              <a:rPr lang="zh-CN" altLang="en-US" sz="2000" dirty="0"/>
              <a:t>数和最大贡献者数</a:t>
            </a:r>
            <a:endParaRPr lang="zh-CN" altLang="en-US" sz="2000" dirty="0"/>
          </a:p>
        </p:txBody>
      </p:sp>
      <p:sp>
        <p:nvSpPr>
          <p:cNvPr id="6" name="装饰  9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>
          <a:xfrm>
            <a:off x="6248400" y="2316480"/>
            <a:ext cx="5334000" cy="152400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572250" y="2692400"/>
            <a:ext cx="876300" cy="736600"/>
          </a:xfrm>
        </p:spPr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7644765" y="2315845"/>
            <a:ext cx="4030980" cy="1523999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模型训练 ：</a:t>
            </a:r>
            <a:r>
              <a:rPr lang="en-US" altLang="zh-CN" sz="2000" dirty="0"/>
              <a:t> </a:t>
            </a:r>
            <a:r>
              <a:rPr lang="zh-CN" altLang="en-US" sz="2000" dirty="0"/>
              <a:t>基于层级基准值生成合成训练数据，对合成数据进行标准化处理，训练</a:t>
            </a:r>
            <a:r>
              <a:rPr lang="en-US" altLang="zh-CN" sz="2000" dirty="0" err="1"/>
              <a:t>GaussianMixture</a:t>
            </a:r>
            <a:r>
              <a:rPr lang="zh-CN" altLang="en-US" sz="2000" dirty="0"/>
              <a:t>模型</a:t>
            </a:r>
            <a:endParaRPr lang="zh-CN" altLang="en-US" sz="2000" dirty="0"/>
          </a:p>
        </p:txBody>
      </p:sp>
      <p:sp>
        <p:nvSpPr>
          <p:cNvPr id="9" name="装饰  2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>
          <a:xfrm>
            <a:off x="516255" y="4038600"/>
            <a:ext cx="5334000" cy="1657985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1970405" y="4363720"/>
            <a:ext cx="3973196" cy="1215044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2000" dirty="0"/>
              <a:t>项目分层 ：对项目数据进行标准化，计算项目属于每个高斯组件的概率，将组件按</a:t>
            </a:r>
            <a:r>
              <a:rPr lang="en-US" altLang="zh-CN" sz="2000" dirty="0" err="1"/>
              <a:t>OpenRank</a:t>
            </a:r>
            <a:r>
              <a:rPr lang="zh-CN" altLang="en-US" sz="2000" dirty="0"/>
              <a:t>中心点排序，映射到四个层级，生成层级概率分布和置信度</a:t>
            </a:r>
            <a:endParaRPr lang="zh-CN" altLang="en-US" sz="2000" dirty="0"/>
          </a:p>
        </p:txBody>
      </p:sp>
      <p:sp>
        <p:nvSpPr>
          <p:cNvPr id="12" name="装饰  5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>
          <a:xfrm>
            <a:off x="6248400" y="4039235"/>
            <a:ext cx="5334000" cy="165735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>
          <a:xfrm>
            <a:off x="7644765" y="4470400"/>
            <a:ext cx="3556000" cy="824865"/>
          </a:xfrm>
        </p:spPr>
        <p:txBody>
          <a:bodyPr/>
          <a:lstStyle/>
          <a:p>
            <a:r>
              <a:rPr lang="zh-CN" altLang="en-US" sz="2000" dirty="0"/>
              <a:t>结果输出 ：返回最佳层级、概率分布和置信度</a:t>
            </a:r>
            <a:endParaRPr lang="zh-CN" altLang="en-US" sz="2000" dirty="0"/>
          </a:p>
        </p:txBody>
      </p:sp>
      <p:sp>
        <p:nvSpPr>
          <p:cNvPr id="15" name="标题 14"/>
          <p:cNvSpPr>
            <a:spLocks noGrp="1"/>
          </p:cNvSpPr>
          <p:nvPr>
            <p:ph type="ctrTitle" idx="16385"/>
            <p:custDataLst>
              <p:tags r:id="rId13"/>
            </p:custDataLst>
          </p:nvPr>
        </p:nvSpPr>
        <p:spPr>
          <a:xfrm>
            <a:off x="609600" y="533400"/>
            <a:ext cx="4574540" cy="60960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项目分层</a:t>
            </a:r>
            <a:r>
              <a:rPr lang="en-US" altLang="zh-CN" sz="2800" b="1" dirty="0"/>
              <a:t> - </a:t>
            </a:r>
            <a:r>
              <a:rPr lang="zh-CN" altLang="en-US" sz="2800" b="1" dirty="0"/>
              <a:t>概率计算流程</a:t>
            </a:r>
            <a:endParaRPr lang="zh-CN" altLang="en-US" sz="2800" b="1" dirty="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4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6" name="文本框 15"/>
          <p:cNvSpPr txBox="1"/>
          <p:nvPr/>
        </p:nvSpPr>
        <p:spPr>
          <a:xfrm>
            <a:off x="516255" y="1586230"/>
            <a:ext cx="8754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 dirty="0"/>
              <a:t>对于每个项目，</a:t>
            </a:r>
            <a:r>
              <a:rPr lang="en-US" altLang="zh-CN" b="1" dirty="0"/>
              <a:t>GMM</a:t>
            </a:r>
            <a:r>
              <a:rPr lang="zh-CN" altLang="en-US" b="1" dirty="0"/>
              <a:t>模型会计算其属于四个层级的概率分布</a:t>
            </a:r>
            <a:r>
              <a:rPr lang="zh-CN" altLang="en-US" dirty="0"/>
              <a:t>：</a:t>
            </a:r>
            <a:endParaRPr lang="zh-CN" altLang="en-US" dirty="0"/>
          </a:p>
        </p:txBody>
      </p:sp>
    </p:spTree>
    <p:custDataLst>
      <p:tags r:id="rId15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  6"/>
          <p:cNvSpPr>
            <a:spLocks noGrp="1"/>
          </p:cNvSpPr>
          <p:nvPr>
            <p:ph type="body" idx="16398"/>
            <p:custDataLst>
              <p:tags r:id="rId1"/>
            </p:custDataLst>
          </p:nvPr>
        </p:nvSpPr>
        <p:spPr>
          <a:xfrm>
            <a:off x="295910" y="1424940"/>
            <a:ext cx="3209925" cy="411861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29590" y="1450975"/>
            <a:ext cx="1984375" cy="568960"/>
          </a:xfrm>
        </p:spPr>
        <p:txBody>
          <a:bodyPr>
            <a:norm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数据检测</a:t>
            </a:r>
            <a:endParaRPr lang="en-US" altLang="zh-CN" b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529590" y="2004695"/>
            <a:ext cx="2750185" cy="3469005"/>
          </a:xfrm>
        </p:spPr>
        <p:txBody>
          <a:bodyPr>
            <a:normAutofit lnSpcReduction="20000"/>
          </a:bodyPr>
          <a:lstStyle/>
          <a:p>
            <a:pPr indent="457200"/>
            <a:r>
              <a:rPr lang="zh-CN" altLang="en-US" sz="2000" dirty="0"/>
              <a:t>如果数据量大于</a:t>
            </a:r>
            <a:r>
              <a:rPr lang="en-US" altLang="zh-CN" sz="2000" dirty="0"/>
              <a:t>24</a:t>
            </a:r>
            <a:r>
              <a:rPr lang="zh-CN" altLang="en-US" sz="2000" dirty="0"/>
              <a:t>个月，优先使用</a:t>
            </a:r>
            <a:r>
              <a:rPr lang="en-US" altLang="zh-CN" sz="2000" dirty="0"/>
              <a:t>Prophet</a:t>
            </a:r>
            <a:r>
              <a:rPr lang="zh-CN" altLang="en-US" sz="2000" dirty="0"/>
              <a:t>模型进行预测；</a:t>
            </a:r>
            <a:endParaRPr lang="zh-CN" altLang="en-US" sz="2000" dirty="0"/>
          </a:p>
          <a:p>
            <a:pPr indent="457200"/>
            <a:r>
              <a:rPr lang="zh-CN" altLang="en-US" sz="2000" dirty="0"/>
              <a:t>如果数据大于</a:t>
            </a:r>
            <a:r>
              <a:rPr lang="en-US" altLang="zh-CN" sz="2000" dirty="0"/>
              <a:t>6</a:t>
            </a:r>
            <a:r>
              <a:rPr lang="zh-CN" altLang="en-US" sz="2000" dirty="0"/>
              <a:t>个月小于</a:t>
            </a:r>
            <a:r>
              <a:rPr lang="en-US" altLang="zh-CN" sz="2000" dirty="0"/>
              <a:t>24</a:t>
            </a:r>
            <a:r>
              <a:rPr lang="zh-CN" altLang="en-US" sz="2000" dirty="0"/>
              <a:t>个月，使用简化版的</a:t>
            </a:r>
            <a:r>
              <a:rPr lang="en-US" altLang="zh-CN" sz="2000" dirty="0"/>
              <a:t>Prophet</a:t>
            </a:r>
            <a:r>
              <a:rPr lang="zh-CN" altLang="en-US" sz="2000" dirty="0"/>
              <a:t>模型：加权三种不同预测方式的结果，包括线性回归预测，指数平滑预测以及加权移动平均预测。</a:t>
            </a:r>
            <a:endParaRPr lang="en-US" altLang="zh-CN" sz="2000" dirty="0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4"/>
            </p:custDataLst>
          </p:nvPr>
        </p:nvSpPr>
        <p:spPr>
          <a:xfrm>
            <a:off x="609600" y="533400"/>
            <a:ext cx="4574540" cy="60960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趋势预测</a:t>
            </a:r>
            <a:r>
              <a:rPr lang="en-US" altLang="zh-CN" sz="2800" b="1" dirty="0"/>
              <a:t> - </a:t>
            </a:r>
            <a:r>
              <a:rPr lang="zh-CN" altLang="en-US" sz="2800" b="1" dirty="0"/>
              <a:t>预测流程</a:t>
            </a:r>
            <a:endParaRPr lang="zh-CN" altLang="en-US" sz="2800" b="1" dirty="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5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29" name="装饰 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43960" y="1450975"/>
            <a:ext cx="3556000" cy="1509395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1" name="文本占位符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997325" y="1450975"/>
            <a:ext cx="2946400" cy="41719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</a:pPr>
            <a:r>
              <a:rPr lang="en-US" altLang="zh-CN" b="1" dirty="0" err="1"/>
              <a:t>2. 置信区间计算</a:t>
            </a:r>
            <a:endParaRPr lang="en-US" altLang="zh-CN" b="1" dirty="0"/>
          </a:p>
        </p:txBody>
      </p:sp>
      <p:sp>
        <p:nvSpPr>
          <p:cNvPr id="32" name="文本占位符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997325" y="2004695"/>
            <a:ext cx="2946400" cy="93916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buClrTx/>
              <a:buSzTx/>
            </a:pPr>
            <a:r>
              <a:rPr lang="zh-CN" altLang="en-US" sz="2000" dirty="0"/>
              <a:t>基于历史数据的波动性计算预测置信区间</a:t>
            </a:r>
            <a:endParaRPr lang="zh-CN" altLang="en-US" sz="2000" dirty="0"/>
          </a:p>
        </p:txBody>
      </p:sp>
      <p:sp>
        <p:nvSpPr>
          <p:cNvPr id="33" name="装饰  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743960" y="3769995"/>
            <a:ext cx="3556000" cy="1702435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4" name="文本占位符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997325" y="3857625"/>
            <a:ext cx="2946400" cy="41719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</a:pPr>
            <a:r>
              <a:rPr lang="en-US" altLang="zh-CN" b="1" dirty="0" err="1"/>
              <a:t>3. 置信度评估</a:t>
            </a:r>
            <a:endParaRPr lang="en-US" altLang="zh-CN" b="1" dirty="0"/>
          </a:p>
        </p:txBody>
      </p:sp>
      <p:sp>
        <p:nvSpPr>
          <p:cNvPr id="35" name="文本占位符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997325" y="4364355"/>
            <a:ext cx="2946400" cy="93916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buClrTx/>
              <a:buSzTx/>
            </a:pPr>
            <a:r>
              <a:rPr lang="zh-CN" altLang="en-US" sz="2000" dirty="0"/>
              <a:t>基于历史数据的波动性评估预测置信度</a:t>
            </a:r>
            <a:endParaRPr lang="zh-CN" altLang="en-US" sz="2000" dirty="0"/>
          </a:p>
        </p:txBody>
      </p:sp>
      <p:sp>
        <p:nvSpPr>
          <p:cNvPr id="36" name="装饰  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661275" y="1450975"/>
            <a:ext cx="3556000" cy="4091305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966075" y="1450975"/>
            <a:ext cx="2946400" cy="41719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</a:pPr>
            <a:r>
              <a:rPr lang="en-US" altLang="zh-CN" b="1" dirty="0"/>
              <a:t>4. </a:t>
            </a:r>
            <a:r>
              <a:rPr lang="en-US" altLang="zh-CN" b="1" dirty="0" err="1"/>
              <a:t>对比验证</a:t>
            </a:r>
            <a:endParaRPr lang="en-US" altLang="zh-CN" b="1" dirty="0"/>
          </a:p>
        </p:txBody>
      </p:sp>
      <p:sp>
        <p:nvSpPr>
          <p:cNvPr id="38" name="文本占位符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854950" y="2004695"/>
            <a:ext cx="3153410" cy="346964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buClrTx/>
              <a:buSzTx/>
            </a:pPr>
            <a:r>
              <a:rPr lang="zh-CN" altLang="en-US" sz="1900" dirty="0"/>
              <a:t>由于</a:t>
            </a:r>
            <a:r>
              <a:rPr lang="en-US" altLang="zh-CN" sz="1900" dirty="0"/>
              <a:t>OpenDiggerAPI </a:t>
            </a:r>
            <a:r>
              <a:rPr lang="zh-CN" altLang="en-US" sz="1900" dirty="0"/>
              <a:t>获取到的只有月度数据，而</a:t>
            </a:r>
            <a:r>
              <a:rPr lang="en-US" altLang="zh-CN" sz="1900" dirty="0"/>
              <a:t>GitHubAPI </a:t>
            </a:r>
            <a:r>
              <a:rPr lang="zh-CN" altLang="en-US" sz="1900" dirty="0"/>
              <a:t>可以获取每一天的数据。因此使用</a:t>
            </a:r>
            <a:r>
              <a:rPr lang="en-US" altLang="zh-CN" sz="1900" dirty="0">
                <a:sym typeface="+mn-ea"/>
              </a:rPr>
              <a:t>GitHub API</a:t>
            </a:r>
            <a:r>
              <a:rPr lang="zh-CN" altLang="en-US" sz="1900" dirty="0">
                <a:sym typeface="+mn-ea"/>
              </a:rPr>
              <a:t>获取的数据与使用</a:t>
            </a:r>
            <a:r>
              <a:rPr lang="en-US" altLang="zh-CN" sz="1900" dirty="0">
                <a:sym typeface="+mn-ea"/>
              </a:rPr>
              <a:t> OpenDigger API </a:t>
            </a:r>
            <a:r>
              <a:rPr lang="zh-CN" altLang="en-US" sz="1900" dirty="0"/>
              <a:t>预测</a:t>
            </a:r>
            <a:r>
              <a:rPr lang="zh-CN" altLang="en-US" sz="1900" dirty="0"/>
              <a:t>得到的最新一个月数据进行对比，</a:t>
            </a:r>
            <a:r>
              <a:rPr lang="zh-CN" altLang="en-US" sz="1900" dirty="0"/>
              <a:t>从而验证预测的准确性</a:t>
            </a:r>
            <a:endParaRPr lang="zh-CN" altLang="en-US" sz="1900" dirty="0"/>
          </a:p>
        </p:txBody>
      </p:sp>
      <p:cxnSp>
        <p:nvCxnSpPr>
          <p:cNvPr id="39" name="直接箭头连接符 38" descr="9c3edcd5-07b9-47a7-8bf6-892394b79f27"/>
          <p:cNvCxnSpPr/>
          <p:nvPr>
            <p:custDataLst>
              <p:tags r:id="rId15"/>
            </p:custDataLst>
          </p:nvPr>
        </p:nvCxnSpPr>
        <p:spPr>
          <a:xfrm>
            <a:off x="5502275" y="3038475"/>
            <a:ext cx="8255" cy="74041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6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  6"/>
          <p:cNvSpPr>
            <a:spLocks noGrp="1"/>
          </p:cNvSpPr>
          <p:nvPr>
            <p:ph type="body" idx="16398"/>
            <p:custDataLst>
              <p:tags r:id="rId1"/>
            </p:custDataLst>
          </p:nvPr>
        </p:nvSpPr>
        <p:spPr>
          <a:xfrm>
            <a:off x="609600" y="1524000"/>
            <a:ext cx="3556000" cy="481203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914400" y="1797050"/>
            <a:ext cx="2946400" cy="887730"/>
          </a:xfrm>
        </p:spPr>
        <p:txBody>
          <a:bodyPr/>
          <a:lstStyle/>
          <a:p>
            <a:r>
              <a:rPr lang="en-US" altLang="zh-CN" sz="2800" b="1" dirty="0"/>
              <a:t>1. </a:t>
            </a:r>
            <a:r>
              <a:rPr lang="zh-CN" altLang="en-US" sz="2800" b="1" dirty="0"/>
              <a:t>数据检测</a:t>
            </a:r>
            <a:endParaRPr lang="en-US" altLang="zh-CN" sz="2800" b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958850" y="2684145"/>
            <a:ext cx="2946400" cy="3131820"/>
          </a:xfrm>
        </p:spPr>
        <p:txBody>
          <a:bodyPr>
            <a:normAutofit/>
          </a:bodyPr>
          <a:lstStyle/>
          <a:p>
            <a:pPr indent="457200"/>
            <a:r>
              <a:rPr lang="zh-CN" altLang="en-US" sz="2400" dirty="0"/>
              <a:t>检查数据质量和长度，</a:t>
            </a:r>
            <a:r>
              <a:rPr lang="zh-CN" altLang="en-US" sz="2400" dirty="0">
                <a:sym typeface="+mn-ea"/>
              </a:rPr>
              <a:t>数据大于</a:t>
            </a:r>
            <a:r>
              <a:rPr lang="en-US" altLang="zh-CN" sz="2400" dirty="0">
                <a:sym typeface="+mn-ea"/>
              </a:rPr>
              <a:t>6</a:t>
            </a:r>
            <a:r>
              <a:rPr lang="zh-CN" altLang="en-US" sz="2400" dirty="0">
                <a:sym typeface="+mn-ea"/>
              </a:rPr>
              <a:t>个月小于</a:t>
            </a:r>
            <a:r>
              <a:rPr lang="en-US" altLang="zh-CN" sz="2400" dirty="0">
                <a:sym typeface="+mn-ea"/>
              </a:rPr>
              <a:t>24</a:t>
            </a:r>
            <a:r>
              <a:rPr lang="zh-CN" altLang="en-US" sz="2400" dirty="0">
                <a:sym typeface="+mn-ea"/>
              </a:rPr>
              <a:t>个月时，使用该简化版的</a:t>
            </a:r>
            <a:r>
              <a:rPr lang="en-US" altLang="zh-CN" sz="2400" dirty="0">
                <a:sym typeface="+mn-ea"/>
              </a:rPr>
              <a:t>Prophet </a:t>
            </a:r>
            <a:r>
              <a:rPr lang="zh-CN" altLang="en-US" sz="2400" dirty="0">
                <a:sym typeface="+mn-ea"/>
              </a:rPr>
              <a:t>模型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6" name="装饰  9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>
          <a:xfrm>
            <a:off x="4318000" y="1524000"/>
            <a:ext cx="3556000" cy="481203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622800" y="1797050"/>
            <a:ext cx="2946400" cy="887730"/>
          </a:xfrm>
        </p:spPr>
        <p:txBody>
          <a:bodyPr/>
          <a:lstStyle/>
          <a:p>
            <a:pPr algn="l">
              <a:buClrTx/>
              <a:buSzTx/>
            </a:pPr>
            <a:r>
              <a:rPr lang="en-US" altLang="zh-CN" sz="2800" b="1" dirty="0"/>
              <a:t>2. </a:t>
            </a:r>
            <a:r>
              <a:rPr lang="en-US" altLang="zh-CN" sz="2800" b="1" dirty="0" err="1"/>
              <a:t>预测</a:t>
            </a:r>
            <a:r>
              <a:rPr lang="zh-CN" altLang="en-US" sz="2800" b="1" dirty="0" err="1"/>
              <a:t>方法</a:t>
            </a:r>
            <a:endParaRPr lang="zh-CN" altLang="en-US" sz="2800" b="1" dirty="0" err="1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4622800" y="2684145"/>
            <a:ext cx="2946400" cy="3235960"/>
          </a:xfrm>
        </p:spPr>
        <p:txBody>
          <a:bodyPr>
            <a:normAutofit/>
          </a:bodyPr>
          <a:lstStyle/>
          <a:p>
            <a:pPr indent="457200"/>
            <a:r>
              <a:rPr lang="zh-CN" altLang="en-US" sz="2400" dirty="0"/>
              <a:t>使用三种预测方法分别进行预测：线性回归预测，指数平滑预测以及加权移动平均预测。</a:t>
            </a:r>
            <a:endParaRPr lang="zh-CN" altLang="en-US" sz="2400" dirty="0"/>
          </a:p>
        </p:txBody>
      </p:sp>
      <p:sp>
        <p:nvSpPr>
          <p:cNvPr id="9" name="装饰  2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>
          <a:xfrm>
            <a:off x="8026400" y="1524000"/>
            <a:ext cx="3556000" cy="481203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8331200" y="1797050"/>
            <a:ext cx="2946400" cy="887730"/>
          </a:xfrm>
        </p:spPr>
        <p:txBody>
          <a:bodyPr/>
          <a:lstStyle/>
          <a:p>
            <a:pPr algn="l">
              <a:buClrTx/>
              <a:buSzTx/>
            </a:pPr>
            <a:r>
              <a:rPr lang="en-US" altLang="zh-CN" sz="2800" b="1"/>
              <a:t>3. 加权组合</a:t>
            </a:r>
            <a:endParaRPr lang="en-US" altLang="zh-CN" sz="2800" b="1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8331200" y="2684145"/>
            <a:ext cx="2946400" cy="3131820"/>
          </a:xfrm>
        </p:spPr>
        <p:txBody>
          <a:bodyPr/>
          <a:lstStyle/>
          <a:p>
            <a:pPr indent="457200"/>
            <a:r>
              <a:rPr lang="zh-CN" altLang="en-US" sz="2400" dirty="0"/>
              <a:t>按照预设权重，将三种预测结果加权求和得到最终</a:t>
            </a:r>
            <a:r>
              <a:rPr lang="zh-CN" altLang="en-US" sz="2400" dirty="0"/>
              <a:t>结果。</a:t>
            </a:r>
            <a:endParaRPr lang="zh-CN" altLang="en-US" sz="2400" dirty="0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10"/>
            </p:custDataLst>
          </p:nvPr>
        </p:nvSpPr>
        <p:spPr>
          <a:xfrm>
            <a:off x="609600" y="533400"/>
            <a:ext cx="6092825" cy="60960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趋势预测</a:t>
            </a:r>
            <a:r>
              <a:rPr lang="en-US" altLang="zh-CN" sz="2800" b="1" dirty="0"/>
              <a:t> – </a:t>
            </a:r>
            <a:r>
              <a:rPr lang="zh-CN" altLang="en-US" sz="2800" b="1" dirty="0"/>
              <a:t>简化版</a:t>
            </a:r>
            <a:r>
              <a:rPr lang="en-US" altLang="zh-CN" sz="2800" b="1" dirty="0"/>
              <a:t>Prophet</a:t>
            </a:r>
            <a:r>
              <a:rPr lang="zh-CN" altLang="en-US" sz="2800" b="1" dirty="0"/>
              <a:t>预测</a:t>
            </a:r>
            <a:endParaRPr lang="zh-CN" altLang="en-US" sz="2800" b="1" dirty="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1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  <p:custDataLst>
      <p:tags r:id="rId12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6392"/>
            <p:custDataLst>
              <p:tags r:id="rId1"/>
            </p:custDataLst>
          </p:nvPr>
        </p:nvGraphicFramePr>
        <p:xfrm>
          <a:off x="609600" y="2321560"/>
          <a:ext cx="10972800" cy="414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996950"/>
                <a:gridCol w="2983865"/>
                <a:gridCol w="4782185"/>
              </a:tblGrid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预测方法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权重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适用场景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实现原理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线性回归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0.4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趋势稳定的数据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基于最小二乘法拟合线性模型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指数回归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0.3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指数增长或衰减的数据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数据取对数后进行线性回归，再转换回指数形式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加权平均移动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0.3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短期预测，近期数据更重要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近期数据权重更高，计算加权平均值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533400"/>
            <a:ext cx="4574540" cy="60960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趋势预测</a:t>
            </a:r>
            <a:r>
              <a:rPr lang="en-US" altLang="zh-CN" sz="2800" b="1" dirty="0"/>
              <a:t> - </a:t>
            </a:r>
            <a:r>
              <a:rPr lang="zh-CN" altLang="en-US" sz="2800" b="1" dirty="0"/>
              <a:t>预测流程</a:t>
            </a:r>
            <a:endParaRPr lang="zh-CN" altLang="en-US" sz="2800" b="1" dirty="0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3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1" name="文本框 10"/>
          <p:cNvSpPr txBox="1"/>
          <p:nvPr/>
        </p:nvSpPr>
        <p:spPr>
          <a:xfrm>
            <a:off x="552450" y="1143000"/>
            <a:ext cx="11029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对于简化版</a:t>
            </a:r>
            <a:r>
              <a:rPr lang="en-US" altLang="zh-CN" sz="2400" dirty="0"/>
              <a:t>Prophet</a:t>
            </a:r>
            <a:r>
              <a:rPr lang="zh-CN" altLang="en-US" sz="2400" dirty="0"/>
              <a:t>预测，如果是</a:t>
            </a:r>
            <a:r>
              <a:rPr lang="zh-CN" altLang="en-US" sz="2400" b="1" dirty="0"/>
              <a:t>低波动性数据</a:t>
            </a:r>
            <a:r>
              <a:rPr lang="zh-CN" altLang="en-US" sz="2400" dirty="0"/>
              <a:t>采用如下加权组合：</a:t>
            </a:r>
            <a:endParaRPr lang="zh-CN" altLang="en-US" sz="2400" dirty="0"/>
          </a:p>
        </p:txBody>
      </p:sp>
    </p:spTree>
    <p:custDataLst>
      <p:tags r:id="rId4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6392"/>
            <p:custDataLst>
              <p:tags r:id="rId1"/>
            </p:custDataLst>
          </p:nvPr>
        </p:nvGraphicFramePr>
        <p:xfrm>
          <a:off x="609600" y="2321560"/>
          <a:ext cx="10972800" cy="414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996950"/>
                <a:gridCol w="2983865"/>
                <a:gridCol w="4782185"/>
              </a:tblGrid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预测方法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权重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适用场景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实现原理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线性回归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0.2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趋势稳定的数据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基于最小二乘法拟合线性模型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指数回归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0.3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指数增长或衰减的数据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数据取对数后进行线性回归，再转换回指数形式</a:t>
                      </a:r>
                      <a:endParaRPr lang="zh-CN" altLang="en-US" sz="2400"/>
                    </a:p>
                  </a:txBody>
                  <a:tcPr/>
                </a:tc>
              </a:tr>
              <a:tr h="1036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加权平均移动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0.5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短期预测，近期数据更重要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近期数据权重更高，计算加权平均值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533400"/>
            <a:ext cx="4574540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趋势预测</a:t>
            </a:r>
            <a:r>
              <a:rPr lang="en-US" altLang="zh-CN" sz="2800" b="1"/>
              <a:t> - </a:t>
            </a:r>
            <a:r>
              <a:rPr lang="zh-CN" altLang="en-US" sz="2800" b="1"/>
              <a:t>预测流程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3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1" name="文本框 10"/>
          <p:cNvSpPr txBox="1"/>
          <p:nvPr/>
        </p:nvSpPr>
        <p:spPr>
          <a:xfrm>
            <a:off x="552450" y="1143000"/>
            <a:ext cx="110293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如果是</a:t>
            </a:r>
            <a:r>
              <a:rPr lang="zh-CN" altLang="en-US" sz="2400" b="1" dirty="0"/>
              <a:t>高波动性数据</a:t>
            </a:r>
            <a:r>
              <a:rPr lang="zh-CN" altLang="en-US" sz="2400" dirty="0"/>
              <a:t>采用如下加权组合，减少线性回归的权重，增大加权平均移动预测的权重</a:t>
            </a:r>
            <a:endParaRPr lang="zh-CN" altLang="en-US" sz="2400" dirty="0"/>
          </a:p>
        </p:txBody>
      </p:sp>
    </p:spTree>
    <p:custDataLst>
      <p:tags r:id="rId4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装饰 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635" y="2540000"/>
            <a:ext cx="2396490" cy="1651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49085" y="2540000"/>
            <a:ext cx="2396490" cy="1651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装饰 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591560" y="2540000"/>
            <a:ext cx="2396490" cy="1651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9090" y="2565400"/>
            <a:ext cx="2564130" cy="1651000"/>
          </a:xfrm>
          <a:custGeom>
            <a:avLst/>
            <a:gdLst>
              <a:gd name="connisteX0" fmla="*/ 0 w 3556000"/>
              <a:gd name="connsiteY0" fmla="*/ 203200 h 2286000"/>
              <a:gd name="connisteX1" fmla="*/ 203200 w 3556000"/>
              <a:gd name="connsiteY1" fmla="*/ 0 h 2286000"/>
              <a:gd name="connisteX2" fmla="*/ 3352800 w 3556000"/>
              <a:gd name="connsiteY2" fmla="*/ 0 h 2286000"/>
              <a:gd name="connisteX3" fmla="*/ 3556000 w 3556000"/>
              <a:gd name="connsiteY3" fmla="*/ 203200 h 2286000"/>
              <a:gd name="connisteX4" fmla="*/ 3556000 w 3556000"/>
              <a:gd name="connsiteY4" fmla="*/ 2082800 h 2286000"/>
              <a:gd name="connisteX5" fmla="*/ 3352800 w 3556000"/>
              <a:gd name="connsiteY5" fmla="*/ 2286000 h 2286000"/>
              <a:gd name="connisteX6" fmla="*/ 203200 w 3556000"/>
              <a:gd name="connsiteY6" fmla="*/ 2286000 h 2286000"/>
              <a:gd name="connisteX7" fmla="*/ 0 w 3556000"/>
              <a:gd name="connsiteY7" fmla="*/ 2082800 h 2286000"/>
              <a:gd name="connisteX8" fmla="*/ 0 w 35560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82800"/>
                </a:lnTo>
                <a:cubicBezTo>
                  <a:pt x="3556000" y="2195024"/>
                  <a:pt x="3465024" y="2286000"/>
                  <a:pt x="33528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graphicFrame>
        <p:nvGraphicFramePr>
          <p:cNvPr id="13" name="内容占位符 12"/>
          <p:cNvGraphicFramePr>
            <a:graphicFrameLocks noGrp="1"/>
          </p:cNvGraphicFramePr>
          <p:nvPr>
            <p:ph idx="16394"/>
            <p:custDataLst>
              <p:tags r:id="rId5"/>
            </p:custDataLst>
          </p:nvPr>
        </p:nvGraphicFramePr>
        <p:xfrm>
          <a:off x="460375" y="4368800"/>
          <a:ext cx="11271885" cy="191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670"/>
                <a:gridCol w="2211705"/>
                <a:gridCol w="2132965"/>
                <a:gridCol w="2242185"/>
                <a:gridCol w="2245360"/>
              </a:tblGrid>
              <a:tr h="382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动量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稳定性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潜力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安全性</a:t>
                      </a:r>
                      <a:endParaRPr lang="zh-CN" altLang="en-US"/>
                    </a:p>
                  </a:txBody>
                  <a:tcPr/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GIANT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0.70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0.20</a:t>
                      </a:r>
                      <a:endParaRPr lang="en-US" altLang="zh-CN"/>
                    </a:p>
                  </a:txBody>
                  <a:tcPr/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MATURE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0.20</a:t>
                      </a:r>
                      <a:endParaRPr lang="en-US" altLang="zh-CN"/>
                    </a:p>
                  </a:txBody>
                  <a:tcPr/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GROWIN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0.10</a:t>
                      </a:r>
                      <a:endParaRPr lang="en-US" altLang="zh-CN"/>
                    </a:p>
                  </a:txBody>
                  <a:tcPr/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EMERGING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>
          <a:xfrm>
            <a:off x="617220" y="2133600"/>
            <a:ext cx="2286000" cy="406400"/>
          </a:xfrm>
        </p:spPr>
        <p:txBody>
          <a:bodyPr/>
          <a:lstStyle/>
          <a:p>
            <a:r>
              <a:rPr lang="zh-CN" altLang="en-US" b="1"/>
              <a:t>动量</a:t>
            </a:r>
            <a:endParaRPr lang="zh-CN" altLang="en-US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>
          <a:xfrm>
            <a:off x="449580" y="2667000"/>
            <a:ext cx="2286000" cy="1524000"/>
          </a:xfrm>
        </p:spPr>
        <p:txBody>
          <a:bodyPr>
            <a:noAutofit/>
          </a:bodyPr>
          <a:lstStyle/>
          <a:p>
            <a:pPr indent="457200"/>
            <a:r>
              <a:rPr lang="zh-CN" altLang="en-US" sz="2000"/>
              <a:t>项目的发展动力，基于</a:t>
            </a:r>
            <a:r>
              <a:rPr lang="en-US" altLang="zh-CN" sz="2000"/>
              <a:t>PR</a:t>
            </a:r>
            <a:r>
              <a:rPr lang="zh-CN" altLang="en-US" sz="2000"/>
              <a:t>合并率、贡献者增长、</a:t>
            </a:r>
            <a:r>
              <a:rPr lang="en-US" altLang="zh-CN" sz="2000"/>
              <a:t>PR</a:t>
            </a:r>
            <a:r>
              <a:rPr lang="zh-CN" altLang="en-US" sz="2000"/>
              <a:t>加速度</a:t>
            </a:r>
            <a:endParaRPr lang="zh-CN" altLang="en-US" sz="20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3646805" y="2133600"/>
            <a:ext cx="2286000" cy="40640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b="1"/>
              <a:t>稳定性</a:t>
            </a:r>
            <a:endParaRPr lang="zh-CN" altLang="en-US" b="1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3646805" y="2692400"/>
            <a:ext cx="2286000" cy="1524000"/>
          </a:xfrm>
        </p:spPr>
        <p:txBody>
          <a:bodyPr/>
          <a:lstStyle/>
          <a:p>
            <a:pPr indent="457200" algn="l">
              <a:buClrTx/>
              <a:buSzTx/>
            </a:pPr>
            <a:r>
              <a:rPr lang="zh-CN" altLang="en-US" sz="2000"/>
              <a:t>项目的稳定程度，基于技术债、熵增、Issue压力</a:t>
            </a:r>
            <a:endParaRPr lang="zh-CN" altLang="en-US" sz="2000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>
          <a:xfrm>
            <a:off x="6676390" y="2133600"/>
            <a:ext cx="2286000" cy="40640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b="1"/>
              <a:t>潜力</a:t>
            </a:r>
            <a:endParaRPr lang="zh-CN" altLang="en-US" b="1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6676390" y="2692400"/>
            <a:ext cx="2286000" cy="1524000"/>
          </a:xfrm>
        </p:spPr>
        <p:txBody>
          <a:bodyPr/>
          <a:lstStyle/>
          <a:p>
            <a:pPr indent="457200"/>
            <a:r>
              <a:rPr lang="zh-CN" altLang="en-US" sz="2000"/>
              <a:t>项目的增长潜力，基于增长天花板和剩余空间</a:t>
            </a:r>
            <a:endParaRPr lang="zh-CN" altLang="en-US" sz="20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>
          <a:xfrm>
            <a:off x="9705975" y="2133600"/>
            <a:ext cx="2286000" cy="40640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b="1"/>
              <a:t>安全性</a:t>
            </a:r>
            <a:endParaRPr lang="zh-CN" altLang="en-US" b="1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>
          <a:xfrm>
            <a:off x="9705975" y="2692400"/>
            <a:ext cx="2286000" cy="1524000"/>
          </a:xfrm>
        </p:spPr>
        <p:txBody>
          <a:bodyPr/>
          <a:lstStyle/>
          <a:p>
            <a:pPr indent="457200"/>
            <a:r>
              <a:rPr lang="zh-CN" altLang="en-US" sz="2000"/>
              <a:t>项目的安全状况，基于风险得分</a:t>
            </a:r>
            <a:endParaRPr lang="zh-CN" altLang="en-US" sz="2000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14"/>
            </p:custDataLst>
          </p:nvPr>
        </p:nvSpPr>
        <p:spPr>
          <a:xfrm>
            <a:off x="609600" y="533400"/>
            <a:ext cx="7325995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健康评估</a:t>
            </a:r>
            <a:r>
              <a:rPr lang="en-US" altLang="zh-CN" sz="2800" b="1"/>
              <a:t> - </a:t>
            </a:r>
            <a:r>
              <a:rPr lang="zh-CN" altLang="en-US" sz="2800" b="1"/>
              <a:t>评估维度与动态权重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5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2" name="文本框 11"/>
          <p:cNvSpPr txBox="1"/>
          <p:nvPr/>
        </p:nvSpPr>
        <p:spPr>
          <a:xfrm>
            <a:off x="609600" y="1188720"/>
            <a:ext cx="10864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AHP</a:t>
            </a:r>
            <a:r>
              <a:rPr lang="zh-CN" altLang="en-US" b="1"/>
              <a:t>（层次分析法）</a:t>
            </a:r>
            <a:r>
              <a:rPr lang="zh-CN" altLang="en-US"/>
              <a:t>是一种多准则决策方法，它将复杂问题分解为多个层次和因素，通过比较判断确定各因素的相对重要性，最终得到综合评估结果。项目分析器根据项目的层级动态调整各维度的权重：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609600" y="2428875"/>
            <a:ext cx="5334000" cy="354965"/>
          </a:xfrm>
        </p:spPr>
        <p:txBody>
          <a:bodyPr>
            <a:normAutofit fontScale="97500" lnSpcReduction="10000"/>
          </a:bodyPr>
          <a:lstStyle/>
          <a:p>
            <a:r>
              <a:rPr lang="zh-CN" altLang="en-US" b="1"/>
              <a:t>活力状态调整因子</a:t>
            </a:r>
            <a:endParaRPr lang="zh-CN" altLang="en-US" b="1"/>
          </a:p>
        </p:txBody>
      </p:sp>
      <p:sp>
        <p:nvSpPr>
          <p:cNvPr id="4" name="装饰  7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609600" y="2785110"/>
            <a:ext cx="5334000" cy="3632835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6248400" y="2428875"/>
            <a:ext cx="5334000" cy="354965"/>
          </a:xfrm>
        </p:spPr>
        <p:txBody>
          <a:bodyPr>
            <a:normAutofit fontScale="97500" lnSpcReduction="10000"/>
          </a:bodyPr>
          <a:lstStyle/>
          <a:p>
            <a:r>
              <a:rPr lang="zh-CN" altLang="en-US" b="1"/>
              <a:t>预测置信度调整因子</a:t>
            </a:r>
            <a:endParaRPr lang="zh-CN" altLang="en-US" b="1"/>
          </a:p>
        </p:txBody>
      </p:sp>
      <p:sp>
        <p:nvSpPr>
          <p:cNvPr id="7" name="装饰  0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6248400" y="2785110"/>
            <a:ext cx="5334000" cy="3632835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553200" y="3343910"/>
            <a:ext cx="4724400" cy="265811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 algn="l"/>
            <a:endParaRPr lang="zh-CN" altLang="en-US" sz="2400"/>
          </a:p>
          <a:p>
            <a:pPr algn="ctr"/>
            <a:r>
              <a:rPr lang="zh-CN" altLang="en-US" sz="2400"/>
              <a:t>调整因子</a:t>
            </a:r>
            <a:r>
              <a:rPr lang="en-US" altLang="zh-CN" sz="2400"/>
              <a:t> = 0.9 + </a:t>
            </a:r>
            <a:r>
              <a:rPr lang="zh-CN" altLang="en-US" sz="2400"/>
              <a:t>置信度</a:t>
            </a:r>
            <a:r>
              <a:rPr lang="en-US" altLang="zh-CN" sz="2400"/>
              <a:t> </a:t>
            </a:r>
            <a:r>
              <a:rPr lang="en-US" altLang="en-US" sz="2400"/>
              <a:t>×</a:t>
            </a:r>
            <a:r>
              <a:rPr lang="en-US" altLang="zh-CN" sz="2400"/>
              <a:t> 0.2</a:t>
            </a:r>
            <a:endParaRPr lang="en-US" altLang="zh-CN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区间：</a:t>
            </a:r>
            <a:r>
              <a:rPr lang="en-US" altLang="zh-CN" sz="2400"/>
              <a:t>[0.9,1.1]</a:t>
            </a:r>
            <a:endParaRPr lang="en-US" altLang="zh-CN" sz="2400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609600" y="533400"/>
            <a:ext cx="4044950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健康评估</a:t>
            </a:r>
            <a:r>
              <a:rPr lang="en-US" altLang="zh-CN" sz="2800" b="1"/>
              <a:t> - </a:t>
            </a:r>
            <a:r>
              <a:rPr lang="zh-CN" altLang="en-US" sz="2800" b="1"/>
              <a:t>动态因子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7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9" name="文本框 8"/>
          <p:cNvSpPr txBox="1"/>
          <p:nvPr/>
        </p:nvSpPr>
        <p:spPr>
          <a:xfrm>
            <a:off x="609600" y="1500505"/>
            <a:ext cx="937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除了动态权重外，项目分析器还引入了两个调整因子，用于最终的</a:t>
            </a:r>
            <a:r>
              <a:rPr lang="zh-CN" altLang="en-US" b="1"/>
              <a:t>健康值计算</a:t>
            </a:r>
            <a:r>
              <a:rPr lang="zh-CN" altLang="en-US"/>
              <a:t>：</a:t>
            </a:r>
            <a:endParaRPr lang="zh-CN" altLang="en-US"/>
          </a:p>
        </p:txBody>
      </p:sp>
      <p:graphicFrame>
        <p:nvGraphicFramePr>
          <p:cNvPr id="12" name="表格 11"/>
          <p:cNvGraphicFramePr/>
          <p:nvPr>
            <p:custDataLst>
              <p:tags r:id="rId8"/>
            </p:custDataLst>
          </p:nvPr>
        </p:nvGraphicFramePr>
        <p:xfrm>
          <a:off x="829945" y="2973070"/>
          <a:ext cx="4842510" cy="325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255"/>
                <a:gridCol w="2421255"/>
              </a:tblGrid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活力状态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调整因子</a:t>
                      </a:r>
                      <a:endParaRPr lang="zh-CN" alt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THRIVING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1.2</a:t>
                      </a:r>
                      <a:endParaRPr lang="en-US" altLang="zh-CN"/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STABLE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1.0</a:t>
                      </a:r>
                      <a:endParaRPr lang="en-US" altLang="zh-CN"/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DORMANT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0.8</a:t>
                      </a:r>
                      <a:endParaRPr lang="en-US" altLang="zh-CN"/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ZOMBIE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0.6</a:t>
                      </a:r>
                      <a:endParaRPr lang="en-US" altLang="zh-CN"/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UNKNOWN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0.9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9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1"/>
            </p:custDataLst>
          </p:nvPr>
        </p:nvSpPr>
        <p:spPr>
          <a:xfrm>
            <a:off x="389255" y="1524000"/>
            <a:ext cx="3024505" cy="472440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492125" y="1996440"/>
            <a:ext cx="2762250" cy="492760"/>
          </a:xfrm>
        </p:spPr>
        <p:txBody>
          <a:bodyPr>
            <a:noAutofit/>
          </a:bodyPr>
          <a:lstStyle/>
          <a:p>
            <a:pPr algn="ctr"/>
            <a:r>
              <a:rPr lang="zh-CN" altLang="en-US" sz="2000" b="1"/>
              <a:t>计算各维度原始分数</a:t>
            </a:r>
            <a:endParaRPr lang="zh-CN" altLang="en-US" sz="20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492125" y="2446655"/>
            <a:ext cx="2762250" cy="35833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400" b="1"/>
              <a:t>动量得分</a:t>
            </a:r>
            <a:r>
              <a:rPr lang="zh-CN" altLang="en-US" sz="1400"/>
              <a:t>：</a:t>
            </a:r>
            <a:endParaRPr lang="zh-CN" altLang="en-US" sz="1400"/>
          </a:p>
          <a:p>
            <a:r>
              <a:rPr lang="zh-CN" altLang="en-US" sz="1400"/>
              <a:t>内置算法</a:t>
            </a:r>
            <a:r>
              <a:rPr lang="en-US" altLang="zh-CN" sz="1400"/>
              <a:t>“</a:t>
            </a:r>
            <a:r>
              <a:rPr lang="zh-CN" altLang="en-US" sz="1400" b="1"/>
              <a:t>动量计算器</a:t>
            </a:r>
            <a:r>
              <a:rPr lang="en-US" altLang="zh-CN" sz="1400"/>
              <a:t>”</a:t>
            </a:r>
            <a:r>
              <a:rPr lang="zh-CN" altLang="en-US" sz="1400"/>
              <a:t>的计算结果。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 b="1"/>
              <a:t>稳定得分</a:t>
            </a:r>
            <a:r>
              <a:rPr lang="zh-CN" altLang="en-US" sz="1400"/>
              <a:t>：</a:t>
            </a:r>
            <a:endParaRPr lang="zh-CN" altLang="en-US" sz="1400"/>
          </a:p>
          <a:p>
            <a:r>
              <a:rPr lang="en-US" altLang="zh-CN" sz="1400"/>
              <a:t>100 - </a:t>
            </a:r>
            <a:r>
              <a:rPr lang="zh-CN" altLang="en-US" sz="1400" b="1"/>
              <a:t>阻力得分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zh-CN" altLang="en-US" sz="1400"/>
              <a:t>阻力得分为</a:t>
            </a:r>
            <a:r>
              <a:rPr lang="zh-CN" altLang="en-US" sz="1400" b="1"/>
              <a:t>内置计算器</a:t>
            </a:r>
            <a:r>
              <a:rPr lang="zh-CN" altLang="en-US" sz="1400"/>
              <a:t>的计算结果。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潜力得分</a:t>
            </a:r>
            <a:r>
              <a:rPr lang="zh-CN" altLang="en-US" sz="1400"/>
              <a:t>：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内置算法</a:t>
            </a:r>
            <a:r>
              <a:rPr lang="en-US" altLang="zh-CN" sz="1400" b="1">
                <a:sym typeface="+mn-ea"/>
              </a:rPr>
              <a:t>“</a:t>
            </a:r>
            <a:r>
              <a:rPr lang="zh-CN" altLang="en-US" sz="1400" b="1">
                <a:sym typeface="+mn-ea"/>
              </a:rPr>
              <a:t>潜力计算器</a:t>
            </a:r>
            <a:r>
              <a:rPr lang="en-US" altLang="zh-CN" sz="1400" b="1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的计算结果。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安全得分</a:t>
            </a:r>
            <a:r>
              <a:rPr lang="zh-CN" altLang="en-US" sz="1400"/>
              <a:t>：</a:t>
            </a:r>
            <a:endParaRPr lang="zh-CN" altLang="en-US" sz="1400"/>
          </a:p>
          <a:p>
            <a:r>
              <a:rPr lang="en-US" altLang="zh-CN" sz="1400"/>
              <a:t>max(0, 100 - </a:t>
            </a:r>
            <a:r>
              <a:rPr lang="zh-CN" altLang="en-US" sz="1400" b="1"/>
              <a:t>风险得分</a:t>
            </a:r>
            <a:r>
              <a:rPr lang="en-US" altLang="en-US" sz="1400"/>
              <a:t>×</a:t>
            </a:r>
            <a:r>
              <a:rPr lang="en-US" altLang="zh-CN" sz="1400"/>
              <a:t>2)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zh-CN" altLang="en-US" sz="1400"/>
              <a:t>风险得分为</a:t>
            </a:r>
            <a:r>
              <a:rPr lang="zh-CN" altLang="en-US" sz="1400" b="1"/>
              <a:t>内置计算器</a:t>
            </a:r>
            <a:r>
              <a:rPr lang="zh-CN" altLang="en-US" sz="1400"/>
              <a:t>的计算结果。</a:t>
            </a:r>
            <a:endParaRPr lang="zh-CN" altLang="en-US" sz="1400"/>
          </a:p>
        </p:txBody>
      </p:sp>
      <p:sp>
        <p:nvSpPr>
          <p:cNvPr id="6" name="装饰  9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>
          <a:xfrm>
            <a:off x="3883025" y="1802130"/>
            <a:ext cx="4995545" cy="168529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4444365" y="2772410"/>
            <a:ext cx="3784600" cy="431800"/>
          </a:xfrm>
        </p:spPr>
        <p:txBody>
          <a:bodyPr/>
          <a:lstStyle/>
          <a:p>
            <a:pPr algn="ctr"/>
            <a:r>
              <a:rPr lang="zh-CN" altLang="en-US"/>
              <a:t>各维度原始分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层级权重</a:t>
            </a:r>
            <a:r>
              <a:rPr lang="en-US" altLang="zh-CN"/>
              <a:t> </a:t>
            </a:r>
            <a:r>
              <a:rPr lang="zh-CN" altLang="en-US"/>
              <a:t>的加权平均值</a:t>
            </a:r>
            <a:endParaRPr lang="zh-CN" altLang="en-US"/>
          </a:p>
        </p:txBody>
      </p:sp>
      <p:sp>
        <p:nvSpPr>
          <p:cNvPr id="9" name="装饰  2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>
          <a:xfrm>
            <a:off x="3882390" y="4222750"/>
            <a:ext cx="4995545" cy="1760855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4133215" y="5184775"/>
            <a:ext cx="4408170" cy="534035"/>
          </a:xfrm>
        </p:spPr>
        <p:txBody>
          <a:bodyPr/>
          <a:lstStyle/>
          <a:p>
            <a:pPr algn="ctr"/>
            <a:r>
              <a:rPr lang="zh-CN" altLang="en-US" sz="1400"/>
              <a:t>基础健康分</a:t>
            </a:r>
            <a:r>
              <a:rPr lang="en-US" altLang="zh-CN" sz="1400"/>
              <a:t> </a:t>
            </a:r>
            <a:r>
              <a:rPr lang="en-US" altLang="en-US" sz="1400"/>
              <a:t>×</a:t>
            </a:r>
            <a:r>
              <a:rPr lang="en-US" altLang="zh-CN" sz="1400"/>
              <a:t> </a:t>
            </a:r>
            <a:r>
              <a:rPr lang="zh-CN" altLang="en-US" sz="1400"/>
              <a:t>活力状态调整因子</a:t>
            </a:r>
            <a:r>
              <a:rPr lang="en-US" altLang="zh-CN" sz="1400"/>
              <a:t> </a:t>
            </a:r>
            <a:r>
              <a:rPr lang="en-US" altLang="en-US" sz="1400"/>
              <a:t>×</a:t>
            </a:r>
            <a:r>
              <a:rPr lang="en-US" altLang="zh-CN" sz="1400"/>
              <a:t> </a:t>
            </a:r>
            <a:r>
              <a:rPr lang="zh-CN" altLang="en-US" sz="1400"/>
              <a:t>预测置信度调整因子</a:t>
            </a:r>
            <a:endParaRPr lang="zh-CN" altLang="en-US" sz="1400"/>
          </a:p>
        </p:txBody>
      </p:sp>
      <p:sp>
        <p:nvSpPr>
          <p:cNvPr id="12" name="装饰  5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9"/>
            </p:custDataLst>
          </p:nvPr>
        </p:nvSpPr>
        <p:spPr>
          <a:xfrm>
            <a:off x="609600" y="533400"/>
            <a:ext cx="4044950" cy="609600"/>
          </a:xfrm>
        </p:spPr>
        <p:txBody>
          <a:bodyPr>
            <a:normAutofit fontScale="90000"/>
          </a:bodyPr>
          <a:lstStyle/>
          <a:p>
            <a:r>
              <a:rPr lang="zh-CN" altLang="en-US" sz="2800" b="1"/>
              <a:t>健康评估</a:t>
            </a:r>
            <a:r>
              <a:rPr lang="en-US" altLang="zh-CN" sz="2800" b="1"/>
              <a:t> - </a:t>
            </a:r>
            <a:r>
              <a:rPr lang="zh-CN" altLang="en-US" sz="2800" b="1"/>
              <a:t>健康值计算过程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0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15" name="文本占位符 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372610" y="2106295"/>
            <a:ext cx="3786505" cy="39878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/>
              <a:t>基础健康分</a:t>
            </a:r>
            <a:endParaRPr lang="zh-CN" altLang="en-US" sz="2000" b="1"/>
          </a:p>
        </p:txBody>
      </p:sp>
      <p:sp>
        <p:nvSpPr>
          <p:cNvPr id="16" name="文本占位符 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444365" y="4507230"/>
            <a:ext cx="3786505" cy="492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/>
              <a:t>最终健康分</a:t>
            </a:r>
            <a:endParaRPr lang="zh-CN" altLang="en-US" sz="2000" b="1"/>
          </a:p>
        </p:txBody>
      </p:sp>
      <p:sp>
        <p:nvSpPr>
          <p:cNvPr id="17" name="文本占位符 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347835" y="1996440"/>
            <a:ext cx="1925320" cy="4502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/>
              <a:t>健康等级</a:t>
            </a:r>
            <a:endParaRPr lang="zh-CN" altLang="en-US" sz="2000" b="1"/>
          </a:p>
        </p:txBody>
      </p:sp>
      <p:graphicFrame>
        <p:nvGraphicFramePr>
          <p:cNvPr id="18" name="表格 17"/>
          <p:cNvGraphicFramePr/>
          <p:nvPr>
            <p:custDataLst>
              <p:tags r:id="rId14"/>
            </p:custDataLst>
          </p:nvPr>
        </p:nvGraphicFramePr>
        <p:xfrm>
          <a:off x="9346565" y="2718435"/>
          <a:ext cx="193548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</a:tblGrid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等级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健康分</a:t>
                      </a:r>
                      <a:endParaRPr lang="zh-CN" altLang="en-US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A+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&gt;=85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&gt;=75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B+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&gt;=65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&gt;=55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&gt;=45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&gt;=35</a:t>
                      </a:r>
                      <a:endParaRPr lang="en-US" altLang="zh-CN"/>
                    </a:p>
                  </a:txBody>
                  <a:tcPr/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&lt;35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1" name="直接连接符 80" descr="9c3edcd5-07b9-47a7-8bf6-892394b79f27"/>
          <p:cNvCxnSpPr/>
          <p:nvPr>
            <p:custDataLst>
              <p:tags r:id="rId15"/>
            </p:custDataLst>
          </p:nvPr>
        </p:nvCxnSpPr>
        <p:spPr>
          <a:xfrm>
            <a:off x="3315404" y="2818668"/>
            <a:ext cx="764540" cy="5715"/>
          </a:xfrm>
          <a:prstGeom prst="line">
            <a:avLst/>
          </a:prstGeom>
          <a:ln w="31750" cap="rnd">
            <a:solidFill>
              <a:schemeClr val="accent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 descr="9c3edcd5-07b9-47a7-8bf6-892394b79f27"/>
          <p:cNvCxnSpPr/>
          <p:nvPr>
            <p:custDataLst>
              <p:tags r:id="rId16"/>
            </p:custDataLst>
          </p:nvPr>
        </p:nvCxnSpPr>
        <p:spPr>
          <a:xfrm flipH="1">
            <a:off x="6262370" y="3335020"/>
            <a:ext cx="6985" cy="10210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 descr="9c3edcd5-07b9-47a7-8bf6-892394b79f27"/>
          <p:cNvCxnSpPr/>
          <p:nvPr>
            <p:custDataLst>
              <p:tags r:id="rId17"/>
            </p:custDataLst>
          </p:nvPr>
        </p:nvCxnSpPr>
        <p:spPr>
          <a:xfrm>
            <a:off x="8649404" y="5075458"/>
            <a:ext cx="608965" cy="2540"/>
          </a:xfrm>
          <a:prstGeom prst="line">
            <a:avLst/>
          </a:prstGeom>
          <a:ln w="31750" cap="rnd">
            <a:solidFill>
              <a:schemeClr val="accent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8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23944f6-3728-4498-b501-8c55ea91429b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>
                <a:solidFill>
                  <a:srgbClr val="000000"/>
                </a:solidFill>
                <a:ea typeface="微软雅黑" panose="020B0503020204020204" charset="-122"/>
                <a:sym typeface="+mn-ea"/>
              </a:rPr>
              <a:t>注意事项</a:t>
            </a:r>
            <a:endParaRPr lang="en-US" sz="54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d93c5c14-2722-478e-a99f-570f1b70a7e6"/>
          <p:cNvSpPr>
            <a:spLocks noGrp="1"/>
          </p:cNvSpPr>
          <p:nvPr>
            <p:ph type="body" idx="1" hasCustomPrompt="1"/>
          </p:nvPr>
        </p:nvSpPr>
        <p:spPr>
          <a:xfrm>
            <a:off x="3371850" y="3789680"/>
            <a:ext cx="5435600" cy="1032510"/>
          </a:xfrm>
        </p:spPr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800" b="0" i="0" u="none">
                <a:solidFill>
                  <a:srgbClr val="000000"/>
                </a:solidFill>
                <a:ea typeface="微软雅黑" panose="020B0503020204020204" charset="-122"/>
              </a:rPr>
              <a:t>一些内部的实现方式</a:t>
            </a:r>
            <a:endParaRPr lang="zh-CN" altLang="en-US" sz="2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1"/>
            </p:custDataLst>
          </p:nvPr>
        </p:nvSpPr>
        <p:spPr>
          <a:xfrm>
            <a:off x="3378199" y="378950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  6"/>
          <p:cNvSpPr>
            <a:spLocks noGrp="1"/>
          </p:cNvSpPr>
          <p:nvPr>
            <p:ph type="body" idx="16390"/>
            <p:custDataLst>
              <p:tags r:id="rId1"/>
            </p:custDataLst>
          </p:nvPr>
        </p:nvSpPr>
        <p:spPr>
          <a:xfrm>
            <a:off x="609600" y="1524000"/>
            <a:ext cx="10972800" cy="2451100"/>
          </a:xfrm>
        </p:spPr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2895600" y="1993900"/>
            <a:ext cx="8585200" cy="198120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2000" b="1" dirty="0"/>
              <a:t>为方便在未安装系统</a:t>
            </a:r>
            <a:r>
              <a:rPr lang="en-US" altLang="zh-CN" sz="2000" b="1" dirty="0"/>
              <a:t> Python </a:t>
            </a:r>
            <a:r>
              <a:rPr lang="zh-CN" altLang="en-US" sz="2000" b="1" dirty="0"/>
              <a:t>的环境运行，本项目提供自动引导的便携式</a:t>
            </a:r>
            <a:r>
              <a:rPr lang="en-US" altLang="zh-CN" sz="2000" b="1" dirty="0"/>
              <a:t> Python </a:t>
            </a:r>
            <a:r>
              <a:rPr lang="zh-CN" altLang="en-US" sz="2000" b="1" dirty="0"/>
              <a:t>运行：</a:t>
            </a:r>
            <a:endParaRPr lang="en-US" altLang="zh-CN" sz="2000" b="1" dirty="0"/>
          </a:p>
          <a:p>
            <a:r>
              <a:rPr lang="en-US" altLang="zh-CN" sz="1715" dirty="0"/>
              <a:t>1. </a:t>
            </a:r>
            <a:r>
              <a:rPr lang="zh-CN" altLang="en-US" sz="1715" dirty="0"/>
              <a:t>首次运行时，双击或在终端执行</a:t>
            </a:r>
            <a:r>
              <a:rPr lang="en-US" altLang="zh-CN" sz="1715" dirty="0"/>
              <a:t> </a:t>
            </a:r>
            <a:r>
              <a:rPr lang="en-US" altLang="zh-CN" sz="1715" b="1" dirty="0"/>
              <a:t>run.bat</a:t>
            </a:r>
            <a:r>
              <a:rPr lang="zh-CN" altLang="en-US" sz="1715" dirty="0"/>
              <a:t>，脚本会自动下载并解压</a:t>
            </a:r>
            <a:r>
              <a:rPr lang="en-US" altLang="zh-CN" sz="1715" dirty="0"/>
              <a:t> Windows </a:t>
            </a:r>
            <a:r>
              <a:rPr lang="zh-CN" altLang="en-US" sz="1715" dirty="0"/>
              <a:t>官方</a:t>
            </a:r>
            <a:r>
              <a:rPr lang="zh-CN" altLang="en-US" sz="1715" b="1" dirty="0"/>
              <a:t>嵌入式</a:t>
            </a:r>
            <a:r>
              <a:rPr lang="en-US" altLang="zh-CN" sz="1715" b="1" dirty="0"/>
              <a:t> Python</a:t>
            </a:r>
            <a:r>
              <a:rPr lang="zh-CN" altLang="en-US" sz="1715" dirty="0"/>
              <a:t>到</a:t>
            </a:r>
            <a:r>
              <a:rPr lang="en-US" altLang="zh-CN" sz="1715" dirty="0"/>
              <a:t> ./python/</a:t>
            </a:r>
            <a:r>
              <a:rPr lang="en-US" altLang="zh-CN" sz="1715" dirty="0" err="1"/>
              <a:t>python_runtime</a:t>
            </a:r>
            <a:r>
              <a:rPr lang="en-US" altLang="zh-CN" sz="1715" dirty="0"/>
              <a:t>/</a:t>
            </a:r>
            <a:r>
              <a:rPr lang="zh-CN" altLang="en-US" sz="1715" dirty="0"/>
              <a:t>，并安装项目依赖（可能耗时较长）。</a:t>
            </a:r>
            <a:endParaRPr lang="zh-CN" altLang="en-US" sz="1715" dirty="0"/>
          </a:p>
          <a:p>
            <a:r>
              <a:rPr lang="en-US" altLang="zh-CN" sz="1715" dirty="0"/>
              <a:t>2. </a:t>
            </a:r>
            <a:r>
              <a:rPr lang="zh-CN" altLang="en-US" sz="1715" dirty="0"/>
              <a:t>后端服务通过</a:t>
            </a:r>
            <a:r>
              <a:rPr lang="en-US" altLang="zh-CN" sz="1715" dirty="0"/>
              <a:t> </a:t>
            </a:r>
            <a:r>
              <a:rPr lang="en-US" altLang="zh-CN" sz="1715" b="1" dirty="0"/>
              <a:t>./backend/.env</a:t>
            </a:r>
            <a:r>
              <a:rPr lang="en-US" altLang="zh-CN" sz="1715" dirty="0"/>
              <a:t> </a:t>
            </a:r>
            <a:r>
              <a:rPr lang="zh-CN" altLang="en-US" sz="1715" dirty="0"/>
              <a:t>里的</a:t>
            </a:r>
            <a:r>
              <a:rPr lang="en-US" altLang="zh-CN" sz="1715" dirty="0"/>
              <a:t> </a:t>
            </a:r>
            <a:r>
              <a:rPr lang="en-US" altLang="zh-CN" sz="1715" b="1" dirty="0"/>
              <a:t>PYTHON_PATH</a:t>
            </a:r>
            <a:r>
              <a:rPr lang="en-US" altLang="zh-CN" sz="1715" dirty="0"/>
              <a:t> </a:t>
            </a:r>
            <a:r>
              <a:rPr lang="zh-CN" altLang="en-US" sz="1715" dirty="0"/>
              <a:t>指向内置解释器，无需系统级</a:t>
            </a:r>
            <a:r>
              <a:rPr lang="en-US" altLang="zh-CN" sz="1715" dirty="0"/>
              <a:t> Python</a:t>
            </a:r>
            <a:r>
              <a:rPr lang="zh-CN" altLang="en-US" sz="1715" dirty="0"/>
              <a:t>。</a:t>
            </a:r>
            <a:endParaRPr lang="zh-CN" altLang="en-US" sz="1715" dirty="0"/>
          </a:p>
          <a:p>
            <a:r>
              <a:rPr lang="en-US" altLang="zh-CN" sz="2000" b="1" dirty="0" err="1"/>
              <a:t>如果不希望该项目安装内置的</a:t>
            </a:r>
            <a:r>
              <a:rPr lang="en-US" altLang="zh-CN" sz="2000" b="1" dirty="0"/>
              <a:t> Python:</a:t>
            </a:r>
            <a:endParaRPr lang="en-US" altLang="zh-CN" sz="2000" b="1" dirty="0"/>
          </a:p>
          <a:p>
            <a:r>
              <a:rPr lang="en-US" altLang="zh-CN" sz="1715" dirty="0"/>
              <a:t>1. </a:t>
            </a:r>
            <a:r>
              <a:rPr lang="zh-CN" altLang="en-US" sz="1715" dirty="0"/>
              <a:t>请在</a:t>
            </a:r>
            <a:r>
              <a:rPr lang="en-US" altLang="zh-CN" sz="1715" dirty="0"/>
              <a:t> ./backend/.env</a:t>
            </a:r>
            <a:r>
              <a:rPr lang="zh-CN" altLang="en-US" sz="1715" dirty="0"/>
              <a:t>中修改</a:t>
            </a:r>
            <a:r>
              <a:rPr lang="en-US" altLang="zh-CN" sz="1715" dirty="0"/>
              <a:t> PYTHON_PATH</a:t>
            </a:r>
            <a:r>
              <a:rPr lang="zh-CN" altLang="en-US" sz="1715" dirty="0"/>
              <a:t>，以确保</a:t>
            </a:r>
            <a:r>
              <a:rPr lang="en-US" altLang="zh-CN" sz="1715" dirty="0"/>
              <a:t> PYTHON_PATH </a:t>
            </a:r>
            <a:r>
              <a:rPr lang="zh-CN" altLang="en-US" sz="1715" dirty="0"/>
              <a:t>指向你系统中的</a:t>
            </a:r>
            <a:r>
              <a:rPr lang="en-US" altLang="zh-CN" sz="1715" dirty="0"/>
              <a:t> python.exe </a:t>
            </a:r>
            <a:r>
              <a:rPr lang="zh-CN" altLang="en-US" sz="1715" dirty="0"/>
              <a:t>解释器路径。</a:t>
            </a:r>
            <a:endParaRPr lang="zh-CN" altLang="en-US" sz="1715" dirty="0"/>
          </a:p>
          <a:p>
            <a:r>
              <a:rPr lang="en-US" altLang="zh-CN" sz="1715" dirty="0"/>
              <a:t>2. </a:t>
            </a:r>
            <a:r>
              <a:rPr lang="zh-CN" altLang="en-US" sz="1715" dirty="0"/>
              <a:t>确保本地</a:t>
            </a:r>
            <a:r>
              <a:rPr lang="en-US" altLang="zh-CN" sz="1715" dirty="0"/>
              <a:t> Python </a:t>
            </a:r>
            <a:r>
              <a:rPr lang="zh-CN" altLang="en-US" sz="1715" dirty="0"/>
              <a:t>版本</a:t>
            </a:r>
            <a:r>
              <a:rPr lang="en-US" altLang="zh-CN" sz="1715" dirty="0"/>
              <a:t>&gt;=3.11 </a:t>
            </a:r>
            <a:r>
              <a:rPr lang="zh-CN" altLang="en-US" sz="1715" dirty="0"/>
              <a:t>且已安装所需依赖</a:t>
            </a:r>
            <a:r>
              <a:rPr lang="en-US" altLang="zh-CN" sz="1715" dirty="0"/>
              <a:t>.</a:t>
            </a:r>
            <a:r>
              <a:rPr lang="zh-CN" altLang="en-US" sz="1715" dirty="0"/>
              <a:t>（可通过命令行</a:t>
            </a:r>
            <a:r>
              <a:rPr lang="en-US" altLang="zh-CN" sz="1715" dirty="0"/>
              <a:t> `pip install -r ./python/scripts/requirements.txt` </a:t>
            </a:r>
            <a:r>
              <a:rPr lang="zh-CN" altLang="en-US" sz="1715" dirty="0"/>
              <a:t>安装）</a:t>
            </a:r>
            <a:br>
              <a:rPr lang="en-US" altLang="zh-CN" sz="1715" b="1" dirty="0"/>
            </a:br>
            <a:r>
              <a:rPr lang="en-US" altLang="zh-CN" sz="1715" dirty="0"/>
              <a:t>3. </a:t>
            </a:r>
            <a:r>
              <a:rPr lang="zh-CN" altLang="en-US" sz="1715" dirty="0"/>
              <a:t>直接在本项目根目录执行</a:t>
            </a:r>
            <a:r>
              <a:rPr lang="en-US" altLang="zh-CN" sz="1715" dirty="0"/>
              <a:t> node .\backend\server.js </a:t>
            </a:r>
            <a:r>
              <a:rPr lang="zh-CN" altLang="en-US" sz="1715" dirty="0"/>
              <a:t>启动后端。</a:t>
            </a:r>
            <a:endParaRPr lang="zh-CN" altLang="en-US" sz="1715" dirty="0"/>
          </a:p>
        </p:txBody>
      </p:sp>
      <p:sp>
        <p:nvSpPr>
          <p:cNvPr id="6" name="装饰  9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609600" y="4038600"/>
            <a:ext cx="10972800" cy="2486025"/>
          </a:xfrm>
        </p:spPr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2895600" y="4509135"/>
            <a:ext cx="8280400" cy="1949450"/>
          </a:xfrm>
        </p:spPr>
        <p:txBody>
          <a:bodyPr>
            <a:normAutofit fontScale="97500" lnSpcReduction="10000"/>
          </a:bodyPr>
          <a:lstStyle/>
          <a:p>
            <a:r>
              <a:rPr lang="zh-CN" altLang="en-US" sz="1555" b="1" dirty="0"/>
              <a:t>由于</a:t>
            </a:r>
            <a:r>
              <a:rPr lang="en-US" altLang="zh-CN" sz="1555" b="1" dirty="0"/>
              <a:t> GitHub </a:t>
            </a:r>
            <a:r>
              <a:rPr lang="zh-CN" altLang="en-US" sz="1555" b="1" dirty="0"/>
              <a:t>对未认证的</a:t>
            </a:r>
            <a:r>
              <a:rPr lang="en-US" altLang="zh-CN" sz="1555" b="1" dirty="0"/>
              <a:t> API </a:t>
            </a:r>
            <a:r>
              <a:rPr lang="zh-CN" altLang="en-US" sz="1555" b="1" dirty="0"/>
              <a:t>访问有较低的速率限制（每小时</a:t>
            </a:r>
            <a:r>
              <a:rPr lang="en-US" altLang="zh-CN" sz="1555" b="1" dirty="0"/>
              <a:t>60</a:t>
            </a:r>
            <a:r>
              <a:rPr lang="zh-CN" altLang="en-US" sz="1555" b="1" dirty="0"/>
              <a:t>次请求），建议在高频使用场景下配置</a:t>
            </a:r>
            <a:r>
              <a:rPr lang="en-US" altLang="zh-CN" sz="1555" b="1" dirty="0"/>
              <a:t> GitHub </a:t>
            </a:r>
            <a:r>
              <a:rPr lang="zh-CN" altLang="en-US" sz="1555" b="1" dirty="0"/>
              <a:t>个人访问令牌（</a:t>
            </a:r>
            <a:r>
              <a:rPr lang="en-US" altLang="zh-CN" sz="1555" b="1" dirty="0"/>
              <a:t>PAT</a:t>
            </a:r>
            <a:r>
              <a:rPr lang="zh-CN" altLang="en-US" sz="1555" b="1" dirty="0"/>
              <a:t>）以提升访问速率。</a:t>
            </a:r>
            <a:endParaRPr lang="zh-CN" altLang="en-US" sz="1555" b="1" dirty="0"/>
          </a:p>
          <a:p>
            <a:r>
              <a:rPr lang="en-US" altLang="zh-CN" sz="1335" dirty="0"/>
              <a:t>1. </a:t>
            </a:r>
            <a:r>
              <a:rPr lang="zh-CN" altLang="en-US" sz="1335" dirty="0"/>
              <a:t>生成</a:t>
            </a:r>
            <a:r>
              <a:rPr lang="en-US" altLang="zh-CN" sz="1335" dirty="0"/>
              <a:t> TOKEN</a:t>
            </a:r>
            <a:r>
              <a:rPr lang="zh-CN" altLang="en-US" sz="1335" dirty="0"/>
              <a:t>：登录</a:t>
            </a:r>
            <a:r>
              <a:rPr lang="en-US" altLang="zh-CN" sz="1335" dirty="0"/>
              <a:t> GitHub </a:t>
            </a:r>
            <a:r>
              <a:rPr lang="zh-CN" altLang="en-US" sz="1335" dirty="0"/>
              <a:t>账号，访问</a:t>
            </a:r>
            <a:r>
              <a:rPr lang="en-US" altLang="zh-CN" sz="1335" dirty="0"/>
              <a:t>https://github.com/settings/tokens</a:t>
            </a:r>
            <a:r>
              <a:rPr lang="zh-CN" altLang="en-US" sz="1335" dirty="0"/>
              <a:t>，生成一个新的</a:t>
            </a:r>
            <a:r>
              <a:rPr lang="en-US" altLang="zh-CN" sz="1335" dirty="0"/>
              <a:t>`Personal access tokens (classic)`</a:t>
            </a:r>
            <a:r>
              <a:rPr lang="zh-CN" altLang="en-US" sz="1335" dirty="0"/>
              <a:t>，勾选所需权限（通常只需</a:t>
            </a:r>
            <a:r>
              <a:rPr lang="en-US" altLang="zh-CN" sz="1335" dirty="0"/>
              <a:t> `repo` </a:t>
            </a:r>
            <a:r>
              <a:rPr lang="zh-CN" altLang="en-US" sz="1335" dirty="0"/>
              <a:t>权限）。</a:t>
            </a:r>
            <a:endParaRPr lang="zh-CN" altLang="en-US" sz="1335" dirty="0"/>
          </a:p>
          <a:p>
            <a:r>
              <a:rPr lang="en-US" altLang="zh-CN" sz="1335" dirty="0"/>
              <a:t>2. </a:t>
            </a:r>
            <a:r>
              <a:rPr lang="zh-CN" altLang="en-US" sz="1335" dirty="0"/>
              <a:t>复制生成的</a:t>
            </a:r>
            <a:r>
              <a:rPr lang="en-US" altLang="zh-CN" sz="1335" dirty="0"/>
              <a:t> TOKEN</a:t>
            </a:r>
            <a:r>
              <a:rPr lang="zh-CN" altLang="en-US" sz="1335" dirty="0"/>
              <a:t>，妥善保存。</a:t>
            </a:r>
            <a:r>
              <a:rPr lang="zh-CN" altLang="en-US" sz="1335" b="1" dirty="0"/>
              <a:t>（这些</a:t>
            </a:r>
            <a:r>
              <a:rPr lang="en-US" altLang="zh-CN" sz="1335" b="1" dirty="0"/>
              <a:t>TOKEN</a:t>
            </a:r>
            <a:r>
              <a:rPr lang="zh-CN" altLang="en-US" sz="1335" b="1" dirty="0"/>
              <a:t>只在生成时可见）</a:t>
            </a:r>
            <a:endParaRPr lang="zh-CN" altLang="en-US" sz="1335" b="1" dirty="0"/>
          </a:p>
          <a:p>
            <a:r>
              <a:rPr lang="en-US" altLang="zh-CN" sz="1335" dirty="0"/>
              <a:t>3. </a:t>
            </a:r>
            <a:r>
              <a:rPr lang="zh-CN" altLang="en-US" sz="1335" dirty="0"/>
              <a:t>配置</a:t>
            </a:r>
            <a:r>
              <a:rPr lang="en-US" altLang="zh-CN" sz="1335" dirty="0"/>
              <a:t> TOKEN</a:t>
            </a:r>
            <a:r>
              <a:rPr lang="zh-CN" altLang="en-US" sz="1335" dirty="0"/>
              <a:t>：（任选其一）</a:t>
            </a:r>
            <a:endParaRPr lang="zh-CN" altLang="en-US" sz="1335" dirty="0"/>
          </a:p>
          <a:p>
            <a:r>
              <a:rPr lang="en-US" altLang="zh-CN" sz="1335" dirty="0"/>
              <a:t>   - </a:t>
            </a:r>
            <a:r>
              <a:rPr lang="zh-CN" altLang="en-US" sz="1335" dirty="0"/>
              <a:t>在</a:t>
            </a:r>
            <a:r>
              <a:rPr lang="en-US" altLang="zh-CN" sz="1335" dirty="0"/>
              <a:t> ./backend/.env </a:t>
            </a:r>
            <a:r>
              <a:rPr lang="zh-CN" altLang="en-US" sz="1335" dirty="0"/>
              <a:t>文件中添加：</a:t>
            </a:r>
            <a:r>
              <a:rPr lang="en-US" altLang="zh-CN" sz="1335" dirty="0"/>
              <a:t>”GITHUB_TOKEN=&lt;</a:t>
            </a:r>
            <a:r>
              <a:rPr lang="zh-CN" altLang="en-US" sz="1335" dirty="0"/>
              <a:t>个人访问令牌</a:t>
            </a:r>
            <a:r>
              <a:rPr lang="en-US" altLang="zh-CN" sz="1335" dirty="0"/>
              <a:t>&gt;”</a:t>
            </a:r>
            <a:r>
              <a:rPr lang="zh-CN" altLang="en-US" sz="1335" dirty="0"/>
              <a:t>。</a:t>
            </a:r>
            <a:r>
              <a:rPr lang="en-US" altLang="zh-CN" sz="1335" dirty="0"/>
              <a:t>(</a:t>
            </a:r>
            <a:r>
              <a:rPr lang="zh-CN" altLang="en-US" sz="1335" dirty="0"/>
              <a:t>优先级别高于环境变量</a:t>
            </a:r>
            <a:r>
              <a:rPr lang="en-US" altLang="zh-CN" sz="1335" dirty="0"/>
              <a:t>)</a:t>
            </a:r>
            <a:endParaRPr lang="en-US" altLang="zh-CN" sz="1335" dirty="0"/>
          </a:p>
          <a:p>
            <a:r>
              <a:rPr lang="en-US" altLang="zh-CN" sz="1335" dirty="0"/>
              <a:t>   - </a:t>
            </a:r>
            <a:r>
              <a:rPr lang="zh-CN" altLang="en-US" sz="1335" dirty="0"/>
              <a:t>或在环境变量中添加</a:t>
            </a:r>
            <a:r>
              <a:rPr lang="en-US" altLang="zh-CN" sz="1335" dirty="0"/>
              <a:t> GITHUB_TOKEN</a:t>
            </a:r>
            <a:r>
              <a:rPr lang="zh-CN" altLang="en-US" sz="1335" dirty="0"/>
              <a:t>，值为刚刚复制的个人访问令牌。</a:t>
            </a:r>
            <a:endParaRPr lang="zh-CN" altLang="en-US" sz="1335" dirty="0"/>
          </a:p>
        </p:txBody>
      </p:sp>
      <p:sp>
        <p:nvSpPr>
          <p:cNvPr id="21" name="标题 20"/>
          <p:cNvSpPr>
            <a:spLocks noGrp="1"/>
          </p:cNvSpPr>
          <p:nvPr>
            <p:ph type="ctrTitle" idx="16385"/>
            <p:custDataLst>
              <p:tags r:id="rId7"/>
            </p:custDataLst>
          </p:nvPr>
        </p:nvSpPr>
        <p:spPr>
          <a:xfrm>
            <a:off x="609600" y="533400"/>
            <a:ext cx="2019300" cy="609600"/>
          </a:xfrm>
        </p:spPr>
        <p:txBody>
          <a:bodyPr>
            <a:normAutofit/>
          </a:bodyPr>
          <a:lstStyle/>
          <a:p>
            <a:r>
              <a:rPr lang="zh-CN" altLang="en-US" sz="2800" b="1"/>
              <a:t>注意事项</a:t>
            </a:r>
            <a:endParaRPr lang="zh-CN" altLang="en-US" sz="2800" b="1"/>
          </a:p>
        </p:txBody>
      </p:sp>
      <p:sp>
        <p:nvSpPr>
          <p:cNvPr id="56" name="直接连接符 55" descr="22ae64ce-e6cd-498c-9b2b-e0a633bc8806"/>
          <p:cNvSpPr/>
          <p:nvPr>
            <p:custDataLst>
              <p:tags r:id="rId8"/>
            </p:custDataLst>
          </p:nvPr>
        </p:nvSpPr>
        <p:spPr>
          <a:xfrm>
            <a:off x="609599" y="1066625"/>
            <a:ext cx="5429251" cy="0"/>
          </a:xfrm>
          <a:prstGeom prst="line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Ctr="0"/>
          <a:lstStyle/>
          <a:p>
            <a:pPr algn="l"/>
          </a:p>
        </p:txBody>
      </p:sp>
      <p:sp>
        <p:nvSpPr>
          <p:cNvPr id="9" name="文本框 8"/>
          <p:cNvSpPr txBox="1"/>
          <p:nvPr/>
        </p:nvSpPr>
        <p:spPr>
          <a:xfrm>
            <a:off x="2628900" y="1625600"/>
            <a:ext cx="4000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Web</a:t>
            </a:r>
            <a:r>
              <a:rPr lang="zh-CN" altLang="en-US" b="1"/>
              <a:t>操作使用内置</a:t>
            </a:r>
            <a:r>
              <a:rPr lang="en-US" altLang="zh-CN" b="1"/>
              <a:t> Python </a:t>
            </a:r>
            <a:r>
              <a:rPr lang="zh-CN" altLang="en-US" b="1"/>
              <a:t>运行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2628900" y="4140835"/>
            <a:ext cx="2914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GitHub API </a:t>
            </a:r>
            <a:r>
              <a:rPr lang="zh-CN" altLang="en-US" b="1"/>
              <a:t>访问限制</a:t>
            </a:r>
            <a:endParaRPr lang="zh-CN" altLang="en-US" b="1"/>
          </a:p>
        </p:txBody>
      </p:sp>
    </p:spTree>
    <p:custDataLst>
      <p:tags r:id="rId9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701a5b-95a5-4cbe-a9ab-16c76343a67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000000"/>
                </a:solidFill>
                <a:ea typeface="微软雅黑" panose="020B0503020204020204" charset="-122"/>
              </a:rPr>
              <a:t>谢谢观看</a:t>
            </a:r>
            <a:endParaRPr lang="en-US" sz="60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8" name="文本占位符 7" descr="6ed074fc-70f1-4539-a1ee-d53720cbe109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095"/>
            <a:ext cx="3791585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altLang="zh-CN" sz="1600" b="0" i="0" u="none">
                <a:solidFill>
                  <a:srgbClr val="000000"/>
                </a:solidFill>
                <a:ea typeface="微软雅黑" panose="020B0503020204020204" charset="-122"/>
              </a:rPr>
              <a:t>Project Analyzer</a:t>
            </a:r>
            <a:r>
              <a:rPr lang="zh-CN" alt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团队：彭欣</a:t>
            </a:r>
            <a:r>
              <a:rPr altLang="zh-CN" sz="1600" b="0" i="0" u="none">
                <a:solidFill>
                  <a:srgbClr val="000000"/>
                </a:solidFill>
                <a:ea typeface="微软雅黑" panose="020B0503020204020204" charset="-122"/>
              </a:rPr>
              <a:t> </a:t>
            </a:r>
            <a:r>
              <a:rPr lang="zh-CN" alt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范力行</a:t>
            </a:r>
            <a:endParaRPr lang="zh-CN" alt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9" name="文本占位符 4" descr="15723d0a-06f7-459a-b73b-2296f5846450"/>
          <p:cNvSpPr>
            <a:spLocks noGrp="1"/>
          </p:cNvSpPr>
          <p:nvPr/>
        </p:nvSpPr>
        <p:spPr>
          <a:xfrm>
            <a:off x="660400" y="5859780"/>
            <a:ext cx="1272540" cy="2743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400">
                <a:latin typeface="微软雅黑" panose="020B0503020204020204" charset="-122"/>
              </a:rPr>
              <a:t>2025.12.26</a:t>
            </a:r>
            <a:endParaRPr lang="en-US" sz="1400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8913edd76e23b886df82603986577a556989a0"/>
  <p:tag name="KSO_WM_NEWLAYOUT_ID" val="110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0dd7ce73ea8c8135e216fc120e723da2daf11d"/>
  <p:tag name="KSO_WM_NEWLAYOUT_ID" val="52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ae81cf0be77910b4bfb3a74f3a42647b9d8b06a"/>
  <p:tag name="KSO_WM_NEWLAYOUT_ID" val="51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08bce1d2dbd9863269ab0eb87663c72c10e77c"/>
  <p:tag name="KSO_WM_NEWLAYOUT_ID" val="75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266c36a6527553fce379d354fc32c381844a7a"/>
  <p:tag name="KSO_WM_NEWLAYOUT_ID" val="23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9ef9271555ae4c81e555fa44769d15eee8b4e4"/>
  <p:tag name="KSO_WM_NEWLAYOUT_ID" val="45"/>
</p:tagLst>
</file>

<file path=ppt/tags/tag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6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662ccf39831a5bbcceae087f2d4b2c49990708"/>
  <p:tag name="KSO_WM_NEWLAYOUT_ID" val="132"/>
</p:tagLst>
</file>

<file path=ppt/tags/tag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82fc4ecb7f0a7e4fc059b0240084034852541d"/>
  <p:tag name="KSO_WM_NEWLAYOUT_ID" val="123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f7dfaf1a7a7ce086d750149345211fe09582ac"/>
  <p:tag name="KSO_WM_NEWLAYOUT_ID" val="31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220a9f3dce60be11f011b2276862dbfcb1cb5c"/>
  <p:tag name="KSO_WM_NEWLAYOUT_ID" val="43"/>
</p:tagLst>
</file>

<file path=ppt/tags/tag1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d9c7dfbbc2a43dc67550c50478f2dd738662d6"/>
  <p:tag name="KSO_WM_NEWLAYOUT_ID" val="211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5c433a6fc93d19de2b865f7856236c082e1092"/>
  <p:tag name="KSO_WM_NEWLAYOUT_ID" val="21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8913edd76e23b886df82603986577a556989a0"/>
  <p:tag name="KSO_WM_NEWLAYOUT_ID" val="110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0dd7ce73ea8c8135e216fc120e723da2daf11d"/>
  <p:tag name="KSO_WM_NEWLAYOUT_ID" val="52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ae81cf0be77910b4bfb3a74f3a42647b9d8b06a"/>
  <p:tag name="KSO_WM_NEWLAYOUT_ID" val="51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08bce1d2dbd9863269ab0eb87663c72c10e77c"/>
  <p:tag name="KSO_WM_NEWLAYOUT_ID" val="75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1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266c36a6527553fce379d354fc32c381844a7a"/>
  <p:tag name="KSO_WM_NEWLAYOUT_ID" val="23"/>
</p:tagLst>
</file>

<file path=ppt/tags/tag1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9ef9271555ae4c81e555fa44769d15eee8b4e4"/>
  <p:tag name="KSO_WM_NEWLAYOUT_ID" val="45"/>
</p:tagLst>
</file>

<file path=ppt/tags/tag1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6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662ccf39831a5bbcceae087f2d4b2c49990708"/>
  <p:tag name="KSO_WM_NEWLAYOUT_ID" val="132"/>
</p:tagLst>
</file>

<file path=ppt/tags/tag2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82fc4ecb7f0a7e4fc059b0240084034852541d"/>
  <p:tag name="KSO_WM_NEWLAYOUT_ID" val="123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f7dfaf1a7a7ce086d750149345211fe09582ac"/>
  <p:tag name="KSO_WM_NEWLAYOUT_ID" val="31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220a9f3dce60be11f011b2276862dbfcb1cb5c"/>
  <p:tag name="KSO_WM_NEWLAYOUT_ID" val="43"/>
</p:tagLst>
</file>

<file path=ppt/tags/tag2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d9c7dfbbc2a43dc67550c50478f2dd738662d6"/>
  <p:tag name="KSO_WM_NEWLAYOUT_ID" val="211"/>
</p:tagLst>
</file>

<file path=ppt/tags/tag2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5c433a6fc93d19de2b865f7856236c082e1092"/>
  <p:tag name="KSO_WM_NEWLAYOUT_ID" val="21"/>
</p:tagLst>
</file>

<file path=ppt/tags/tag2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08bce1d2dbd9863269ab0eb87663c72c10e77c"/>
  <p:tag name="KSO_WM_NEWLAYOUT_ID" val="75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67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68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69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70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71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72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273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74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SLIDE_ID" val="slide_4119a3e48367d026"/>
</p:tagLst>
</file>

<file path=ppt/tags/tag275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8913edd76e23b886df82603986577a556989a0"/>
  <p:tag name="KSO_WM_NEWLAYOUT_ID" val="110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TABLE_ENDDRAG_ORIGIN_RECT" val="432*335"/>
  <p:tag name="TABLE_ENDDRAG_RECT" val="480*120*432*335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79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8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62e9a827c1ca94a6"/>
</p:tagLst>
</file>

<file path=ppt/tags/tag281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0dd7ce73ea8c8135e216fc120e723da2daf11d"/>
  <p:tag name="KSO_WM_NEWLAYOUT_ID" val="52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84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8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bd990345d2056e44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0dd7ce73ea8c8135e216fc120e723da2daf11d"/>
  <p:tag name="KSO_WM_NEWLAYOUT_ID" val="52"/>
</p:tagLst>
</file>

<file path=ppt/tags/tag287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8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bd990345d2056e44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90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91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93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94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295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96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c5db18d8f353f640"/>
</p:tagLst>
</file>

<file path=ppt/tags/tag306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7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1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a81418525f254632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TABLE_ENDDRAG_ORIGIN_RECT" val="416*385"/>
  <p:tag name="TABLE_ENDDRAG_RECT" val="480*110*416*385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21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3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62e9a827c1ca94a6"/>
</p:tagLst>
</file>

<file path=ppt/tags/tag3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DIAGRAM_VIRTUALLY_FRAME" val="{&quot;height&quot;:372,&quot;left&quot;:40.65,&quot;top&quot;:120,&quot;width&quot;:871.35}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  <p:tag name="KSO_WM_DIAGRAM_VIRTUALLY_FRAME" val="{&quot;height&quot;:372,&quot;left&quot;:40.65,&quot;top&quot;:120,&quot;width&quot;:871.35}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DIAGRAM_VIRTUALLY_FRAME" val="{&quot;height&quot;:372,&quot;left&quot;:40.65,&quot;top&quot;:120,&quot;width&quot;:871.35}"/>
</p:tagLst>
</file>

<file path=ppt/tags/tag3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DIAGRAM_VIRTUALLY_FRAME" val="{&quot;height&quot;:372,&quot;left&quot;:40.65,&quot;top&quot;:120,&quot;width&quot;:871.35}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  <p:tag name="KSO_WM_DIAGRAM_VIRTUALLY_FRAME" val="{&quot;height&quot;:372,&quot;left&quot;:40.65,&quot;top&quot;:120,&quot;width&quot;:871.35}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DIAGRAM_VIRTUALLY_FRAME" val="{&quot;height&quot;:372,&quot;left&quot;:40.65,&quot;top&quot;:120,&quot;width&quot;:871.35}"/>
</p:tagLst>
</file>

<file path=ppt/tags/tag3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DIAGRAM_VIRTUALLY_FRAME" val="{&quot;height&quot;:372,&quot;left&quot;:40.65,&quot;top&quot;:120,&quot;width&quot;:871.35}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  <p:tag name="KSO_WM_DIAGRAM_VIRTUALLY_FRAME" val="{&quot;height&quot;:372,&quot;left&quot;:40.65,&quot;top&quot;:120,&quot;width&quot;:871.35}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DIAGRAM_VIRTUALLY_FRAME" val="{&quot;height&quot;:372,&quot;left&quot;:40.65,&quot;top&quot;:120,&quot;width&quot;:871.35}"/>
</p:tagLst>
</file>

<file path=ppt/tags/tag3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DIAGRAM_VIRTUALLY_FRAME" val="{&quot;height&quot;:372,&quot;left&quot;:40.65,&quot;top&quot;:120,&quot;width&quot;:871.35}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  <p:tag name="KSO_WM_DIAGRAM_VIRTUALLY_FRAME" val="{&quot;height&quot;:372,&quot;left&quot;:40.65,&quot;top&quot;:120,&quot;width&quot;:871.35}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DIAGRAM_VIRTUALLY_FRAME" val="{&quot;height&quot;:372,&quot;left&quot;:40.65,&quot;top&quot;:120,&quot;width&quot;:871.35}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37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3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7986a09e498dbba3"/>
</p:tagLst>
</file>

<file path=ppt/tags/tag3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43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6_1"/>
  <p:tag name="KSO_WM_UNIT_TYPE" val="l_h_i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353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354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SLIDE_ID" val="slide_1574fb54776ff40e"/>
</p:tagLst>
</file>

<file path=ppt/tags/tag3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65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66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SLIDE_ID" val="slide_1574fb54776ff40e"/>
</p:tagLst>
</file>

<file path=ppt/tags/tag3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TABLE_ENDDRAG_ORIGIN_RECT" val="864*326"/>
  <p:tag name="TABLE_ENDDRAG_RECT" val="48*182*864*326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69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c376839215f31895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TABLE_ENDDRAG_ORIGIN_RECT" val="864*326"/>
  <p:tag name="TABLE_ENDDRAG_RECT" val="48*182*864*326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73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7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c376839215f31895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TABLE_ENDDRAG_ORIGIN_RECT" val="887*150"/>
  <p:tag name="TABLE_ENDDRAG_RECT" val="15*356*887*150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89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144e4d907e3dfd84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397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398.xml><?xml version="1.0" encoding="utf-8"?>
<p:tagLst xmlns:p="http://schemas.openxmlformats.org/presentationml/2006/main">
  <p:tag name="TABLE_ENDDRAG_ORIGIN_RECT" val="381*213"/>
  <p:tag name="TABLE_ENDDRAG_RECT" val="65*259*381*213"/>
</p:tagLst>
</file>

<file path=ppt/tags/tag39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21d876bcd5574aba"/>
</p:tagLst>
</file>

<file path=ppt/tags/tag4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409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3.xml><?xml version="1.0" encoding="utf-8"?>
<p:tagLst xmlns:p="http://schemas.openxmlformats.org/presentationml/2006/main">
  <p:tag name="TABLE_ENDDRAG_ORIGIN_RECT" val="152*230"/>
  <p:tag name="TABLE_ENDDRAG_RECT" val="685*227*152*230"/>
</p:tagLst>
</file>

<file path=ppt/tags/tag414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415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416.xml><?xml version="1.0" encoding="utf-8"?>
<p:tagLst xmlns:p="http://schemas.openxmlformats.org/presentationml/2006/main">
  <p:tag name="KSO_WM_DIAGRAM_VIRTUALLY_FRAME" val="{&quot;height&quot;:340.4,&quot;left&quot;:-4.75,&quot;top&quot;:88.99999999999997,&quot;width&quot;:964.75}"/>
</p:tagLst>
</file>

<file path=ppt/tags/tag41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bd49f870f87cf71f"/>
</p:tagLst>
</file>

<file path=ppt/tags/tag418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4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426.xml><?xml version="1.0" encoding="utf-8"?>
<p:tagLst xmlns:p="http://schemas.openxmlformats.org/presentationml/2006/main">
  <p:tag name="KSO_WM_DIAGRAM_VIRTUALLY_FRAME" val="{&quot;height&quot;:362.3611811023622,&quot;left&quot;:52,&quot;top&quot;:89,&quot;width&quot;:855}"/>
</p:tagLst>
</file>

<file path=ppt/tags/tag42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83ca7a19eeb99b33"/>
</p:tagLst>
</file>

<file path=ppt/tags/tag428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6c353385-be4e-4e15-b200-ff877875938d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E80FE"/>
      </a:accent1>
      <a:accent2>
        <a:srgbClr val="2630EE"/>
      </a:accent2>
      <a:accent3>
        <a:srgbClr val="5E80FE"/>
      </a:accent3>
      <a:accent4>
        <a:srgbClr val="2630EE"/>
      </a:accent4>
      <a:accent5>
        <a:srgbClr val="5E80FE"/>
      </a:accent5>
      <a:accent6>
        <a:srgbClr val="2630EE"/>
      </a:accent6>
      <a:hlink>
        <a:srgbClr val="5875DB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E80FE"/>
      </a:accent1>
      <a:accent2>
        <a:srgbClr val="2630EE"/>
      </a:accent2>
      <a:accent3>
        <a:srgbClr val="5E80FE"/>
      </a:accent3>
      <a:accent4>
        <a:srgbClr val="2630EE"/>
      </a:accent4>
      <a:accent5>
        <a:srgbClr val="5E80FE"/>
      </a:accent5>
      <a:accent6>
        <a:srgbClr val="2630EE"/>
      </a:accent6>
      <a:hlink>
        <a:srgbClr val="5875DB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iSlide#6c353385-be4e-4e15-b200-ff877875938d</Template>
  <TotalTime>0</TotalTime>
  <Words>4755</Words>
  <Application>WPS 演示</Application>
  <PresentationFormat>宽屏</PresentationFormat>
  <Paragraphs>579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等线</vt:lpstr>
      <vt:lpstr>Designed by iSlide</vt:lpstr>
      <vt:lpstr>1_Designed by iSlide</vt:lpstr>
      <vt:lpstr>GitHub项目深度分析器</vt:lpstr>
      <vt:lpstr>目录</vt:lpstr>
      <vt:lpstr>项目概述</vt:lpstr>
      <vt:lpstr>项目概述</vt:lpstr>
      <vt:lpstr>功能描述</vt:lpstr>
      <vt:lpstr>数据分析预测</vt:lpstr>
      <vt:lpstr>数据分析预测</vt:lpstr>
      <vt:lpstr>PowerPoint 演示文稿</vt:lpstr>
      <vt:lpstr>PowerPoint 演示文稿</vt:lpstr>
      <vt:lpstr>操作说明</vt:lpstr>
      <vt:lpstr>操作说明</vt:lpstr>
      <vt:lpstr>分析过程</vt:lpstr>
      <vt:lpstr>分析过程</vt:lpstr>
      <vt:lpstr>项目分层 - 指标与层级</vt:lpstr>
      <vt:lpstr>项目分层 - 概率计算流程</vt:lpstr>
      <vt:lpstr>趋势预测 - 预测流程</vt:lpstr>
      <vt:lpstr>趋势预测 – 简化版Prophet预测</vt:lpstr>
      <vt:lpstr>趋势预测 - 预测流程</vt:lpstr>
      <vt:lpstr>趋势预测 - 预测流程</vt:lpstr>
      <vt:lpstr>健康评估 - 评估维度与动态权重</vt:lpstr>
      <vt:lpstr>健康评估 - 动态因子</vt:lpstr>
      <vt:lpstr>健康评估 - 健康值计算过程</vt:lpstr>
      <vt:lpstr>注意事项</vt:lpstr>
      <vt:lpstr>注意事项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范力行</cp:lastModifiedBy>
  <cp:revision>20</cp:revision>
  <cp:lastPrinted>2023-06-15T16:00:00Z</cp:lastPrinted>
  <dcterms:created xsi:type="dcterms:W3CDTF">2023-06-15T16:00:00Z</dcterms:created>
  <dcterms:modified xsi:type="dcterms:W3CDTF">2025-12-28T08:09:14Z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6c353385-be4e-4e15-b200-ff877875938d</vt:lpwstr>
  </property>
  <property fmtid="{D5CDD505-2E9C-101B-9397-08002B2CF9AE}" pid="3" name="ICV">
    <vt:lpwstr>D1AC3B06B45040D98F845B2C1E1BC8AF_12</vt:lpwstr>
  </property>
  <property fmtid="{D5CDD505-2E9C-101B-9397-08002B2CF9AE}" pid="4" name="KSOProductBuildVer">
    <vt:lpwstr>2052-12.1.0.23125</vt:lpwstr>
  </property>
</Properties>
</file>